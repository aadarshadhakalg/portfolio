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3 in image is 3 channel color, RGB, </a:t>
            </a:r>
            <a:r>
              <a:rPr lang="en-US" sz="1100">
                <a:solidFill>
                  <a:schemeClr val="dk1"/>
                </a:solidFill>
              </a:rPr>
              <a:t>In machine learning, models often require data to be a "flat vector," so an image needs to be reshaped from (height, width, 3) into a single, one-dimensional array before it can be fed into a model like TensorFlow or PyTorch.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0" name="Google Shape;60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2" name="Google Shape;632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6" name="Google Shape;646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8" name="Google Shape;728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0" name="Google Shape;750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4" name="Google Shape;764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8" name="Google Shape;778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8" name="Google Shape;788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2" name="Google Shape;802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6" name="Google Shape;816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0" name="Google Shape;830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0" name="Google Shape;840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5" name="Google Shape;865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9" name="Google Shape;879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4" name="Google Shape;904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8" name="Google Shape;918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3" name="Google Shape;943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7" name="Google Shape;957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2" name="Google Shape;982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7" name="Google Shape;997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2" name="Google Shape;1022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7" name="Google Shape;1037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7" name="Google Shape;1047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7" name="Google Shape;1057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4" name="Google Shape;1074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E91E63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7772400" y="3657600"/>
            <a:ext cx="3200400" cy="3200400"/>
          </a:xfrm>
          <a:prstGeom prst="ellipse">
            <a:avLst/>
          </a:prstGeom>
          <a:solidFill>
            <a:srgbClr val="00BCD4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5486400" y="-914400"/>
            <a:ext cx="2286000" cy="2286000"/>
          </a:xfrm>
          <a:prstGeom prst="ellipse">
            <a:avLst/>
          </a:prstGeom>
          <a:solidFill>
            <a:srgbClr val="FFC107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548640" y="457200"/>
            <a:ext cx="3291840" cy="411480"/>
          </a:xfrm>
          <a:prstGeom prst="roundRect">
            <a:avLst>
              <a:gd fmla="val 48889" name="adj"/>
            </a:avLst>
          </a:prstGeom>
          <a:solidFill>
            <a:srgbClr val="FFC10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" y="100584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0"/>
              <a:buFont typeface="Calibri"/>
              <a:buNone/>
            </a:pPr>
            <a:r>
              <a:rPr b="1" lang="en-US" sz="110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914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6517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NumPy Deep Dive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Broadcasting, reshaping, and the patterns you'll use in every ML notebook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Welcome Back — Recap of Week 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we built, what we're building 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1280160"/>
            <a:ext cx="4023360" cy="3657600"/>
          </a:xfrm>
          <a:prstGeom prst="roundRect">
            <a:avLst>
              <a:gd fmla="val 3000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280160"/>
            <a:ext cx="109728" cy="36576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13232" y="1417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WEEK 1 GAVE YOU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13232" y="1783080"/>
            <a:ext cx="3657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Python basics + types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Lists, tuples, sets, dicts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Slicing [start:stop:step]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Functions with defaults and returns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Packages and import patterns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NumPy intro: arrays, vectorized math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663440" y="1280160"/>
            <a:ext cx="4023360" cy="3657600"/>
          </a:xfrm>
          <a:prstGeom prst="roundRect">
            <a:avLst>
              <a:gd fmla="val 3000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663440" y="1280160"/>
            <a:ext cx="109728" cy="36576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919472" y="1417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THIS WEEK GOES DEEPER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919472" y="1783080"/>
            <a:ext cx="3657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Day 4: NumPy reshaping &amp; broadcasting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Today's Roadmap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we'll cover today, in order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48640" y="1280160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48640" y="1280160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737360" y="1280160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Recap + warm-up question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48640" y="1664208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1664208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737360" y="1664208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Reshaping arrays — same data, new shape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2048256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2048256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LAB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737360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Live coding: reshape, flatten, transpose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2432304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2432304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737360" y="2432304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Broadcasting — NumPy's secret weapon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2816352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6B72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2816352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737360" y="2816352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3200400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3200400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LAB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737360" y="3200400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Stacking and combining arrays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3584448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3584448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737360" y="3584448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Pair lab: Kathmandu AQI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3968496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3968496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737360" y="396849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Common pitfalls (views, dtypes, &amp; vs and)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4352544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48640" y="4352544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737360" y="4352544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Tricky challenges + Q&amp;A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Warm-up: what is the shape of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np.array([[1,2],[3,4],[5,6]])?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(2, 3)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(3, 2)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(6,)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(2, 2, 2)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Shape is always (rows, columns) — count the outer items first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Three Rows, Two Columns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Outer dimension first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(3, 2)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663440" y="182880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800600" y="192024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[[1, 2],   &lt;- row 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[3, 4],   &lt;- row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[5, 6]]   &lt;- row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3 rows  (outer)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2 columns (inner)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shape = (3, 2)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Reshaping — Same Data, New Shape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Every ML pipeline reshapes data 5+ times before training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 Reshape?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ML models expect specific shapes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40080" y="137160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 image is (height, width, 3) but a model wants a flat vector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 batch of 100 images becomes (100, height, width, 3)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Time series: (seconds,) becomes (windows, window_size)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Reshape doesn't move data — it just changes how we access it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If you can't reshape, you can't feed data to TensorFlow or PyTorch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8595360" y="4663440"/>
            <a:ext cx="228600" cy="2286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reshape() Basics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Pass the new shape as a tuple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Start with a flat array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 = np.arange(12)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print(a)              # [0 1 2 3 4 5 6 7 8 9 10 11]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print(a.shape)        # (12,)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Reshape into 3 rows of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a.reshape(3, 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print(b)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[[ 0  1  2  3]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[ 4  5  6  7]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[ 8  9 10 11]]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Or 4 rows of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c = a.reshape(4, 3)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The total count must match: 3*4 = 12, 4*3 = 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This will fail: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a.reshape(5, 3)   # ValueError: cannot reshape size 12 into (5, 3)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The -1 Trick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Let NumPy figure out one dimension for you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 = np.arange(24)        # 24 elements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 want 6 rows — let NumPy figure out columns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a.reshape(6, -1)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print(b.shape)           # (6, 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 want 8 columns — let NumPy figure out rows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c = a.reshape(-1, 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print(c.shape)           # (3, 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 want a 3D shape: 2 layers, 3 rows, ? cols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 = a.reshape(2, 3, -1)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print(d.shape)           # (2, 3, 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Common pattern: flatten an image batch for a dense layer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images shape: (100, 28, 28)  -&gt; 100 small images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flat = images.reshape(100, -1)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flat shape: (100, 784)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Visual — How Reshape Works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 numbers, three different shapes, same data underneath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(12,) — flat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155448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155448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205740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205740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256032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256032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306324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306324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356616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356616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406908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406908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457200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457200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507492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07492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557784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57784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608076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608076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58368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658368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7086600" y="1691640"/>
            <a:ext cx="457200" cy="36576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7086600" y="1691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457200" y="2240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(3, 4) — 3 rows × 4 cols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594360" y="260604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594360" y="260604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1051560" y="260604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1051560" y="260604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1508760" y="260604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1508760" y="260604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1965960" y="260604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1965960" y="260604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94360" y="301752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94360" y="301752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1051560" y="301752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1051560" y="301752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508760" y="301752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1508760" y="301752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1965960" y="301752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965960" y="301752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94360" y="342900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94360" y="342900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1051560" y="342900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1051560" y="342900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508760" y="342900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508760" y="342900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965960" y="3429000"/>
            <a:ext cx="420624" cy="365760"/>
          </a:xfrm>
          <a:prstGeom prst="roundRect">
            <a:avLst>
              <a:gd fmla="val 10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965960" y="3429000"/>
            <a:ext cx="420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663440" y="2240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(4, 3) — 4 rows × 3 cols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120640" y="2606040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120640" y="2606040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5577840" y="2606040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5577840" y="2606040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035040" y="2606040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035040" y="2606040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120640" y="2999232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120640" y="2999232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577840" y="2999232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577840" y="2999232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6035040" y="2999232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6035040" y="2999232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5120640" y="3392424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120640" y="339242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5577840" y="3392424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5577840" y="339242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035040" y="3392424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6035040" y="339242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5120640" y="3785616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5120640" y="3785616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5577840" y="3785616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577840" y="3785616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035040" y="3785616"/>
            <a:ext cx="420624" cy="347472"/>
          </a:xfrm>
          <a:prstGeom prst="roundRect">
            <a:avLst>
              <a:gd fmla="val 1052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035040" y="3785616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Same 12 numbers in memory. NumPy just changes the access pattern — it's free.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flatten() and ravel()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Going from N-D back to flat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640080" y="173736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Start 2D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matrix = np.array([[1, 2, 3],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[4, 5, 6]])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print(matrix.shape)        # (2, 3)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Flatten to 1D — returns a NEW array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flat1 = matrix.flatten()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print(flat1)               # [1 2 3 4 5 6]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print(flat1.shape)         # (6,)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ravel() also flattens — returns a VIEW (faster, but careful!)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flat2 = matrix.ravel()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Modifying flat2 may modify matrix!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flat2[0] = 99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print(matrix)              # [[99 2 3] [4 5 6]]  -- changed!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Use flatten() if you want safety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Use ravel() if you want speed and won't modify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Transpose — Flip Rows and Columns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Useful for matrix math and data orientation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40080" y="164592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2x3 matrix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 = np.array([[1, 2, 3],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[4, 5, 6]])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print(a.shape)             # (2, 3)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Transpose with .T (or np.transpose())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a.T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print(b)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[[1 4]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[2 5]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[3 6]]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print(b.shape)             # (3, 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Common use: rows-as-features &lt;-&gt; columns-as-features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Many sklearn tools want (samples, features)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But CSV imports often give (features, samples)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data = np.array([[170, 175, 168, 182], - Height of 4 Person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[65, 72, 60, 80]]) - Weight of 4 Person    # (height, weight) per col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samples = data.T          # now each row = one person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print(samples.shape)      # (4, 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Broadcasting — NumPy's Magic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Arrays of different shapes can still do math together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What Is Broadcasting?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NumPy makes mismatched shapes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640080" y="137160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When you do math on arrays of different shapes, NumPy STRETCHES the smaller one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No data is actually copied — it's a virtual stretch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Saves memory AND code AND keeps things fast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Most common case: array + scalar (we've already used this!)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Trickier case: 2D + 1D, when shapes line up correctly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8595360" y="4663440"/>
            <a:ext cx="228600" cy="2286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Scalar Broadcasting (You Know This)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single number talks to a whole array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Convert all temperatures from C to 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temps_c = np.array([20, 25, 30, 35])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temps_f = temps_c * 1.8 + 32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print(temps_f)           # [68. 77. 86. 95.]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What's actually happening: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1.8 is "broadcast" to match the array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Conceptually: [1.8, 1.8, 1.8, 1.8] * [20, 25, 30, 35]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But NumPy doesn't actually create that big array — it's a virtual stretch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Same with subtracting the mean (centering data)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 = np.array([85, 92, 78, 95, 88])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centered = scores - scores.mean()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print(centered)          # [-2.6  4.4 -9.6 12.4  0.4]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This is everywhere in ML — normalizing inputs before training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1D + 2D Broadcasting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Add a row vector to every row of a matrix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621792" y="164592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Imagine a small dataset: 3 students, 4 subjects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np.array([[85, 90, 78, 92],   # student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[70, 65, 80, 75],   # student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[95, 88, 92, 90]])  # student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Curve adjustments: per-subject bonus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bonus = np.array([5, 3, 8, 2])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Add bonus to EVERY ROW automatically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adjusted = grades + bonus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print(adjusted)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[[90 93 86 94]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[75 68 88 77]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[100 91 100 92]]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How? bonus shape (4,) is broadcast to (3, 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It's as if NumPy did this — but without actually copying: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[[5, 3, 8, 2],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[5, 3, 8, 2],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[5, 3, 8, 2]]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Visual — How Broadcasting Stretches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Adding a 1D bonus row to a 3x4 grade matrix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grades (3, 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59436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59436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109728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109728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160020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160020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210312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210312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59436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59436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109728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109728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160020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160020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210312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210312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59436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59436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109728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109728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160020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160020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210312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210312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3108960" y="21945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3383280" y="1371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bonus (4,)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352044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352044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402336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402336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452628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452628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02920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502920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352044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352044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402336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402336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452628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452628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502920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502920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352044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352044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402336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402336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452628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452628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502920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502920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5760720" y="21945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result (3, 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608076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608076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658368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658368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708660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708660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7589520" y="17373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7589520" y="1737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608076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608076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658368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658368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708660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708660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7589520" y="21945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7589520" y="21945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608076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608076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658368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658368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708660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708660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7589520" y="2651760"/>
            <a:ext cx="457200" cy="411480"/>
          </a:xfrm>
          <a:prstGeom prst="roundRect">
            <a:avLst>
              <a:gd fmla="val 888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7589520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faded rows are virtual — NumPy never actually copies the bonus row 3 times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Same memory, same speed — broadcasting is FREE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Broadcasting Rules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Only two rules — but they cause 90% of NumPy errors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1463040" y="14630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Right-align the shapes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1463040" y="18745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Pad shorter shapes on the LEFT with 1s. Then compare dimension-by-dimension.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1463040" y="22860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ourier New"/>
              <a:buNone/>
            </a:pPr>
            <a:r>
              <a:rPr i="1" lang="en-US" sz="13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Example:   (3, 4)  vs  (4,)   →   pad to   (3, 4)  vs  (1, 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57200" y="2834640"/>
            <a:ext cx="8229600" cy="1783080"/>
          </a:xfrm>
          <a:prstGeom prst="roundRect">
            <a:avLst>
              <a:gd fmla="val 6154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685800" y="3246120"/>
            <a:ext cx="640080" cy="6400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685800" y="3246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1463040" y="29718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Each pair must be EQUAL or include a 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1463040" y="338328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If two dimensions match, </a:t>
            </a: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use them directly.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If one is 1, </a:t>
            </a: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stretch it to match the other.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Otherwise </a:t>
            </a: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→ FAIL with ValueError.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That's it. Two rules. Apply them dimension by dimension, right-to-left.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Three Cases — Right-Aligned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1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Walk through each pair, dimension by dimension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457200" y="1280160"/>
            <a:ext cx="8229600" cy="11430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640080" y="1463040"/>
            <a:ext cx="1097280" cy="777240"/>
          </a:xfrm>
          <a:prstGeom prst="roundRect">
            <a:avLst>
              <a:gd fmla="val 705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640080" y="146304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1920240" y="1417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(3, 4)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1920240" y="1783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(4,)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3566160" y="14173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4069080" y="14173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3566160" y="17830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ourier New"/>
              <a:buNone/>
            </a:pPr>
            <a:r>
              <a:rPr i="1" lang="en-US" sz="14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1*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4069080" y="17830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/>
          <p:nvPr/>
        </p:nvSpPr>
        <p:spPr>
          <a:xfrm>
            <a:off x="4663440" y="1417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3 vs 1: stretch.  4 vs 4: match.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4663440" y="1783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Result: (3, 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457200" y="2606040"/>
            <a:ext cx="8229600" cy="11430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640080" y="2788920"/>
            <a:ext cx="1097280" cy="777240"/>
          </a:xfrm>
          <a:prstGeom prst="roundRect">
            <a:avLst>
              <a:gd fmla="val 7059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640080" y="278892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1920240" y="27432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(3, 4)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1920240" y="31089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(3,)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3566160" y="27432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4069080" y="27432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3566160" y="31089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ourier New"/>
              <a:buNone/>
            </a:pPr>
            <a:r>
              <a:rPr i="1" lang="en-US" sz="14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1*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4069080" y="31089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4663440" y="2743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Last pair: 4 vs 3 — neither matches nor has a 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4663440" y="3108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Result: ValueError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457200" y="3931920"/>
            <a:ext cx="8229600" cy="11430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640080" y="4114800"/>
            <a:ext cx="1097280" cy="777240"/>
          </a:xfrm>
          <a:prstGeom prst="roundRect">
            <a:avLst>
              <a:gd fmla="val 7059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640080" y="41148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640080" y="44805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1920240" y="4069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(3, 1)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1920240" y="4434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(1, 4)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3566160" y="40690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4069080" y="40690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3566160" y="4434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4069080" y="4434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4663440" y="4069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Each pair has a 1 — both axes stretch.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4663440" y="4434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Result: (3, 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457200" y="5166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* = padded automatically when shapes have different number of dimensions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Both Stretch — A Visual Walk-Through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(3, 1) + (1, 4) is the 'outer product' pattern, used everywhere in 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 (3, 1) — column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097280" y="178308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1097280" y="1783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1097280" y="228600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1097280" y="22860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1097280" y="278892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1097280" y="27889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1874520" y="23774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/>
          <p:nvPr/>
        </p:nvSpPr>
        <p:spPr>
          <a:xfrm>
            <a:off x="2286000" y="1371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b (1, 4) — row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2423160" y="219456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2423160" y="219456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2971800" y="219456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2971800" y="219456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3520440" y="219456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3520440" y="219456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4069080" y="219456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4069080" y="219456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4800600" y="23774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5212080" y="1371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result (3, 4)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5349240" y="178308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349240" y="1783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5897880" y="178308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5897880" y="1783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6446520" y="178308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6446520" y="1783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6995160" y="178308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6995160" y="1783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5349240" y="228600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5349240" y="22860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5897880" y="228600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5897880" y="22860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6446520" y="228600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6446520" y="22860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6995160" y="228600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6995160" y="22860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5349240" y="278892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5349240" y="27889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5897880" y="278892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5897880" y="27889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6446520" y="278892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6446520" y="27889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6995160" y="2788920"/>
            <a:ext cx="502920" cy="4572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6995160" y="27889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457200" y="3657600"/>
            <a:ext cx="8229600" cy="1280160"/>
          </a:xfrm>
          <a:prstGeom prst="roundRect">
            <a:avLst>
              <a:gd fmla="val 7143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685800" y="374904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What happened: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 (column) was stretched ACROSS to fill 4 columns.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b (row) was stretched DOWN to fill 3 rows.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Then they were added element-by-element.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Memory cost: still just 3 + 4 = 7 numbers. The 12 results are computed lazily.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3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When Broadcasting Fails — How to Fix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Reshape one operand so the dimensions align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457200" y="1325880"/>
            <a:ext cx="8229600" cy="1280160"/>
          </a:xfrm>
          <a:prstGeom prst="roundRect">
            <a:avLst>
              <a:gd fmla="val 7143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640080" y="1737360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grades shape: (3, 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boost shape:    (3,)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grades + boost  -&gt;  ValueError: shapes (3,4) (3,) not aligned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/>
          <p:nvPr/>
        </p:nvSpPr>
        <p:spPr>
          <a:xfrm>
            <a:off x="457200" y="2743200"/>
            <a:ext cx="8229600" cy="1463040"/>
          </a:xfrm>
          <a:prstGeom prst="roundRect">
            <a:avLst>
              <a:gd fmla="val 6250" name="adj"/>
            </a:avLst>
          </a:prstGeom>
          <a:solidFill>
            <a:srgbClr val="FAF5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640080" y="2834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THE FIX — RESHAPE TO (3, 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3"/>
          <p:cNvSpPr/>
          <p:nvPr/>
        </p:nvSpPr>
        <p:spPr>
          <a:xfrm>
            <a:off x="640080" y="3200400"/>
            <a:ext cx="7863840" cy="914400"/>
          </a:xfrm>
          <a:prstGeom prst="roundRect">
            <a:avLst>
              <a:gd fmla="val 6000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777240" y="329184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boost = boost.reshape(3, 1)    # or:  boost[:, np.newaxis]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# now shape is (3, 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result = grades + boost        # (3, 4) + (3, 1) -&gt; (3, 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3"/>
          <p:cNvSpPr/>
          <p:nvPr/>
        </p:nvSpPr>
        <p:spPr>
          <a:xfrm>
            <a:off x="457200" y="4343400"/>
            <a:ext cx="8229600" cy="640080"/>
          </a:xfrm>
          <a:prstGeom prst="roundRect">
            <a:avLst>
              <a:gd fmla="val 14286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640080" y="443484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Mental model: </a:t>
            </a: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(3,) means 'a list of 3'. </a:t>
            </a: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(3, 1) means 'a column of 3'. </a:t>
            </a: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Same data, different meaning to NumPy.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4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4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Will this work?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a = np.zeros((3, 4))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b = np.array([1, 2, 3])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result = a + 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4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Yes, result is (3, 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4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4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Yes, result is (3, 3)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4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4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4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No — shape mismatch 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4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Yes, but result is (4, 3)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Right-align: a is (3, 4), b is (3,). Does the 3 match the 4?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5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Broadcasting Mismatch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5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classic NumPy error you'll see hundreds of times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ValueError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4663440" y="1828800"/>
            <a:ext cx="3931920" cy="1371600"/>
          </a:xfrm>
          <a:prstGeom prst="roundRect">
            <a:avLst>
              <a:gd fmla="val 5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4800600" y="192024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a shape:  (3, 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b shape:     (3,)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Right-aligned: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  3 vs 4 — mismatch!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4663440" y="3337560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Fix: reshape b to (3, 1):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result = a + b.reshape(3, 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6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FC107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6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00BCD4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BREAK TIME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i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minutes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After break: stacking, axes deep dive, AQI lab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7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Stacking, Combining, Axes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Once you can shape and stretch, you can stack and slice anything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Stacking Arrays — vstack &amp; hstack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Combining 1D arrays into bigger arrays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 = np.array([1, 2, 3])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np.array([4, 5, 6])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Stack vertically — like rows of a spreadsheet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v = np.vstack([a, b])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print(v)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[[1 2 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[4 5 6]]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print(v.shape)             # (2, 3)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Stack horizontally — extend the row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h = np.hstack([a, b])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print(h)                   # [1 2 3 4 5 6]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print(h.shape)             # (6,)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8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8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8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vstack stacks rows. hstack extends the row.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Stacking — concatenate with axis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general-purpose tool for any dimension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9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m1 = np.array([[1, 2], [3, 4]])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m2 = np.array([[5, 6], [7, 8]])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print(m1.shape, m2.shape)        # (2, 2) (2, 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axis=0 — stack rows (vertically)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result_v = np.concatenate([m1, m2], axis=0)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print(result_v)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[[1 2]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[3 4]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[5 6]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[7 8]]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print(result_v.shape)            # (4, 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axis=1 — stack columns (horizontally)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result_h = np.concatenate([m1, m2], axis=1)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print(result_h)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[[1 2 5 6]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[3 4 7 8]]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print(result_h.shape)            # (2, 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0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0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Axis — The Concept That Confuses Everyone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0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axis tells reductions which dimension to collapse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0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0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0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0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2D array of student grades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np.array([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[85, 90, 78, 92],   # student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[70, 65, 80, 75],   # student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[95, 88, 92, 90],   # student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Total of ALL elements (no axis)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print(grades.sum())             # 1098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axis=0 -&gt; collapse the rows -&gt; sum per column (per subject)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print(grades.sum(axis=0))       # [250 243 250 257]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axis=1 -&gt; collapse the columns -&gt; sum per row (per student)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print(grades.sum(axis=1))       # [345 290 365]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Same logic for mean, max, min, std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print(grades.mean(axis=0))      # average per subject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print(grades.max(axis=1))       # best subject per student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1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Visual — Axis Intuition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1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Same array, two different reductions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1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axis=0  (down each column)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1"/>
          <p:cNvSpPr/>
          <p:nvPr/>
        </p:nvSpPr>
        <p:spPr>
          <a:xfrm>
            <a:off x="640080" y="178308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1"/>
          <p:cNvSpPr/>
          <p:nvPr/>
        </p:nvSpPr>
        <p:spPr>
          <a:xfrm>
            <a:off x="64008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1"/>
          <p:cNvSpPr/>
          <p:nvPr/>
        </p:nvSpPr>
        <p:spPr>
          <a:xfrm>
            <a:off x="1280160" y="178308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1"/>
          <p:cNvSpPr/>
          <p:nvPr/>
        </p:nvSpPr>
        <p:spPr>
          <a:xfrm>
            <a:off x="128016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1"/>
          <p:cNvSpPr/>
          <p:nvPr/>
        </p:nvSpPr>
        <p:spPr>
          <a:xfrm>
            <a:off x="1920240" y="178308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1"/>
          <p:cNvSpPr/>
          <p:nvPr/>
        </p:nvSpPr>
        <p:spPr>
          <a:xfrm>
            <a:off x="192024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78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2560320" y="178308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1"/>
          <p:cNvSpPr/>
          <p:nvPr/>
        </p:nvSpPr>
        <p:spPr>
          <a:xfrm>
            <a:off x="256032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1"/>
          <p:cNvSpPr/>
          <p:nvPr/>
        </p:nvSpPr>
        <p:spPr>
          <a:xfrm>
            <a:off x="640080" y="22860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1"/>
          <p:cNvSpPr/>
          <p:nvPr/>
        </p:nvSpPr>
        <p:spPr>
          <a:xfrm>
            <a:off x="640080" y="22860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70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1"/>
          <p:cNvSpPr/>
          <p:nvPr/>
        </p:nvSpPr>
        <p:spPr>
          <a:xfrm>
            <a:off x="1280160" y="22860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1"/>
          <p:cNvSpPr/>
          <p:nvPr/>
        </p:nvSpPr>
        <p:spPr>
          <a:xfrm>
            <a:off x="1280160" y="22860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1920240" y="22860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/>
          <p:nvPr/>
        </p:nvSpPr>
        <p:spPr>
          <a:xfrm>
            <a:off x="1920240" y="22860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1"/>
          <p:cNvSpPr/>
          <p:nvPr/>
        </p:nvSpPr>
        <p:spPr>
          <a:xfrm>
            <a:off x="2560320" y="22860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/>
          <p:nvPr/>
        </p:nvSpPr>
        <p:spPr>
          <a:xfrm>
            <a:off x="2560320" y="22860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75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1"/>
          <p:cNvSpPr/>
          <p:nvPr/>
        </p:nvSpPr>
        <p:spPr>
          <a:xfrm>
            <a:off x="640080" y="278892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640080" y="2788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1280160" y="278892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1"/>
          <p:cNvSpPr/>
          <p:nvPr/>
        </p:nvSpPr>
        <p:spPr>
          <a:xfrm>
            <a:off x="1280160" y="2788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1920240" y="278892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1"/>
          <p:cNvSpPr/>
          <p:nvPr/>
        </p:nvSpPr>
        <p:spPr>
          <a:xfrm>
            <a:off x="1920240" y="2788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1"/>
          <p:cNvSpPr/>
          <p:nvPr/>
        </p:nvSpPr>
        <p:spPr>
          <a:xfrm>
            <a:off x="2560320" y="278892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2560320" y="2788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640080" y="333756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1"/>
          <p:cNvSpPr/>
          <p:nvPr/>
        </p:nvSpPr>
        <p:spPr>
          <a:xfrm>
            <a:off x="1280160" y="333756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1920240" y="333756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1"/>
          <p:cNvSpPr/>
          <p:nvPr/>
        </p:nvSpPr>
        <p:spPr>
          <a:xfrm>
            <a:off x="2560320" y="333756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640080" y="36576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640080" y="36576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250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1280160" y="36576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1"/>
          <p:cNvSpPr/>
          <p:nvPr/>
        </p:nvSpPr>
        <p:spPr>
          <a:xfrm>
            <a:off x="1280160" y="36576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243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1920240" y="36576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1"/>
          <p:cNvSpPr/>
          <p:nvPr/>
        </p:nvSpPr>
        <p:spPr>
          <a:xfrm>
            <a:off x="1920240" y="36576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250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2560320" y="36576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1"/>
          <p:cNvSpPr/>
          <p:nvPr/>
        </p:nvSpPr>
        <p:spPr>
          <a:xfrm>
            <a:off x="2560320" y="36576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257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457200" y="41148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sum per subject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1"/>
          <p:cNvSpPr/>
          <p:nvPr/>
        </p:nvSpPr>
        <p:spPr>
          <a:xfrm>
            <a:off x="4663440" y="13716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axis=1  (across each row)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4846320" y="178308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484632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5486400" y="178308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1"/>
          <p:cNvSpPr/>
          <p:nvPr/>
        </p:nvSpPr>
        <p:spPr>
          <a:xfrm>
            <a:off x="548640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1"/>
          <p:cNvSpPr/>
          <p:nvPr/>
        </p:nvSpPr>
        <p:spPr>
          <a:xfrm>
            <a:off x="6126480" y="178308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/>
          <p:nvPr/>
        </p:nvSpPr>
        <p:spPr>
          <a:xfrm>
            <a:off x="612648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78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6766560" y="178308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1"/>
          <p:cNvSpPr/>
          <p:nvPr/>
        </p:nvSpPr>
        <p:spPr>
          <a:xfrm>
            <a:off x="676656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/>
          <p:nvPr/>
        </p:nvSpPr>
        <p:spPr>
          <a:xfrm>
            <a:off x="4846320" y="22860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1"/>
          <p:cNvSpPr/>
          <p:nvPr/>
        </p:nvSpPr>
        <p:spPr>
          <a:xfrm>
            <a:off x="4846320" y="22860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70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1"/>
          <p:cNvSpPr/>
          <p:nvPr/>
        </p:nvSpPr>
        <p:spPr>
          <a:xfrm>
            <a:off x="5486400" y="22860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5486400" y="22860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1"/>
          <p:cNvSpPr/>
          <p:nvPr/>
        </p:nvSpPr>
        <p:spPr>
          <a:xfrm>
            <a:off x="6126480" y="22860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1"/>
          <p:cNvSpPr/>
          <p:nvPr/>
        </p:nvSpPr>
        <p:spPr>
          <a:xfrm>
            <a:off x="6126480" y="22860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1"/>
          <p:cNvSpPr/>
          <p:nvPr/>
        </p:nvSpPr>
        <p:spPr>
          <a:xfrm>
            <a:off x="6766560" y="22860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1"/>
          <p:cNvSpPr/>
          <p:nvPr/>
        </p:nvSpPr>
        <p:spPr>
          <a:xfrm>
            <a:off x="6766560" y="22860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75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1"/>
          <p:cNvSpPr/>
          <p:nvPr/>
        </p:nvSpPr>
        <p:spPr>
          <a:xfrm>
            <a:off x="4846320" y="278892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4846320" y="2788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/>
          <p:nvPr/>
        </p:nvSpPr>
        <p:spPr>
          <a:xfrm>
            <a:off x="5486400" y="278892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5486400" y="2788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6126480" y="278892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1"/>
          <p:cNvSpPr/>
          <p:nvPr/>
        </p:nvSpPr>
        <p:spPr>
          <a:xfrm>
            <a:off x="6126480" y="2788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1"/>
          <p:cNvSpPr/>
          <p:nvPr/>
        </p:nvSpPr>
        <p:spPr>
          <a:xfrm>
            <a:off x="6766560" y="278892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FAF5FF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1"/>
          <p:cNvSpPr/>
          <p:nvPr/>
        </p:nvSpPr>
        <p:spPr>
          <a:xfrm>
            <a:off x="6766560" y="2788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1"/>
          <p:cNvSpPr/>
          <p:nvPr/>
        </p:nvSpPr>
        <p:spPr>
          <a:xfrm>
            <a:off x="7406640" y="17830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7680960" y="178308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1"/>
          <p:cNvSpPr/>
          <p:nvPr/>
        </p:nvSpPr>
        <p:spPr>
          <a:xfrm>
            <a:off x="768096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345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/>
          <p:nvPr/>
        </p:nvSpPr>
        <p:spPr>
          <a:xfrm>
            <a:off x="7406640" y="22860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1"/>
          <p:cNvSpPr/>
          <p:nvPr/>
        </p:nvSpPr>
        <p:spPr>
          <a:xfrm>
            <a:off x="7680960" y="228600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7680960" y="22860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740664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7680960" y="2788920"/>
            <a:ext cx="594360" cy="457200"/>
          </a:xfrm>
          <a:prstGeom prst="roundRect">
            <a:avLst>
              <a:gd fmla="val 8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7680960" y="2788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365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1"/>
          <p:cNvSpPr/>
          <p:nvPr/>
        </p:nvSpPr>
        <p:spPr>
          <a:xfrm>
            <a:off x="4663440" y="41148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sum per student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Memory aid: axis=0 collapses the FIRST dim (rows). axis=1 collapses the SECOND dim (cols).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2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2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2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2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Pair Lab — Kathmandu AQI Analysis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2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Real(ish) data, real reshaping, real broadcasting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3"/>
          <p:cNvSpPr/>
          <p:nvPr/>
        </p:nvSpPr>
        <p:spPr>
          <a:xfrm>
            <a:off x="548640" y="228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HANDS-ON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3"/>
          <p:cNvSpPr/>
          <p:nvPr/>
        </p:nvSpPr>
        <p:spPr>
          <a:xfrm>
            <a:off x="548640" y="5486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Kathmandu AQI Analysis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3"/>
          <p:cNvSpPr/>
          <p:nvPr/>
        </p:nvSpPr>
        <p:spPr>
          <a:xfrm>
            <a:off x="7589520" y="365760"/>
            <a:ext cx="1097280" cy="457200"/>
          </a:xfrm>
          <a:prstGeom prst="roundRect">
            <a:avLst>
              <a:gd fmla="val 16000" name="adj"/>
            </a:avLst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3"/>
          <p:cNvSpPr/>
          <p:nvPr/>
        </p:nvSpPr>
        <p:spPr>
          <a:xfrm>
            <a:off x="7589520" y="3657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30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3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Pairs — work with simulated AQI data for one full year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3"/>
          <p:cNvSpPr/>
          <p:nvPr/>
        </p:nvSpPr>
        <p:spPr>
          <a:xfrm>
            <a:off x="640080" y="1920240"/>
            <a:ext cx="8046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Generate 365 daily AQI values: np.random.randint(80, 250, 365)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Reshape into weeks: 52 weeks × 7 days. Use -1 to let NumPy figure it out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Find the worst day of each week using axis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Find the average AQI per week using axis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Subtract the yearly mean from every day (broadcasting!) — find the most polluted day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Bonus: count how many days were 'hazardous' (AQI &gt; 200)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Bonus 2: which week had the highest weekly average?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AQI Lab — Setup &amp; Reshape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Steps 1-3 from the lab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4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4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4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4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4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4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1: simulate one year of daily AQI readings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np.random.seed(42)        # reproducible "randomness"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aqi = np.random.randint(80, 250, 365)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print(aqi.shape)          # (365,)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print(aqi[:7])            # [182 130 189 110 92 224 154]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2: reshape into weeks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365 / 7 = 52.14 — not a clean divide!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Drop the last day: 364 = 52 * 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aqi = aqi[:364]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weeks = aqi.reshape(52, -1)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print(weeks.shape)        # (52, 7)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3: worst day of each week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worst_per_week = weeks.max(axis=1)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print(worst_per_week.shape)   # (52,)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print(worst_per_week[:5])     # first 5 weeks' worst days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5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5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AQI Lab — Stats &amp; Broadcasting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5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Steps 4-5 + bonuses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5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5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5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5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5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5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(continuing from previous slide)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4: average AQI per week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weekly_avg = weeks.mean(axis=1)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print(f"Best week avg: {weekly_avg.min():.1f}")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print(f"Worst week avg: {weekly_avg.max():.1f}")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5: subtract yearly mean from every day (broadcasting!)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yearly_mean = aqi.mean()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deviation = aqi - yearly_mean        # (364,) - scalar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print(f"Yearly mean: {yearly_mean:.1f}")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print(f"Worst day was: {deviation.max():.1f} above mean")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Bonus 1: hazardous days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hazardous = (aqi &gt; 200).sum()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print(f"Hazardous days: {hazardous}")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Bonus 2: which week had highest avg?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worst_week_idx = weekly_avg.argmax()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print(f"Worst week: #{worst_week_idx + 1}")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6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6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6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6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Pitfalls You'll Hit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6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Five mistakes that catch every NumPy beginner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7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7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Pitfall 1 — Views vs Copies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7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 saw this on Day 3 — it bites again here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7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7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7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7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7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7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Slicing creates a VIEW (shares memory)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 = np.array([1, 2, 3, 4, 5])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a[1:4]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b[0] = 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print(a)              # [1 99 3 4 5] — a changed!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Reshape creates a VIEW too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 = a.reshape(5, 1)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m[0] = 88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print(a)              # [88 99 3 4 5] — a changed!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Fancy indexing creates a COPY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idx = np.array([0, 2, 4])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c = a[idx]            # copy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c[0] = 777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print(a)              # unchanged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When in doubt, use .copy()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safe = a[1:4].copy()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safe[0] = 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print(a)              # unchanged this time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Pitfall 2 — &amp; vs and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Different operators for arrays vs single values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8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8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8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8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8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8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 = np.array([85, 92, 78, 95, 88])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WRONG — Python's 'and' doesn't work on arrays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scores &gt; 80 and scores &lt; 95   # ValueError!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RIGHT — use &amp; (bitwise) for arrays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result = scores[(scores &gt; 80) &amp; (scores &lt; 95)]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         # [85 92 88]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RULES: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Single boolean values:  use 'and', 'or', 'not'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NumPy arrays:           use '&amp;', '|', '~'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Always parenthesize each comparison: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mask = (scores &gt;= 70) &amp; (scores &lt;= 90)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Without parens, &amp; has higher precedence than &gt; or &lt;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and you'll get a confusing error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Pitfall 3 — Integer vs Float dtype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Subtle but breaks ML pipelines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9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9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9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9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9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9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Integer array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ints = np.array([1, 2, 3, 4])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print(ints.dtype)         # int64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Division converts to float automatically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result = ints /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             # [0.5 1.  1.5 2. 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But assigning a float to int array — gets truncated!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ints[0] = 1.99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print(ints)               # [1 2 3 4]   -- 0.99 lost!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Convert explicitly with .astype()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floats = ints.astype(float)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floats[0] = 1.99          # now safe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print(floats)             # [1.99 2.  3.  4. 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Common in ML: image bytes -&gt; float for math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pixels = bytes.astype(np.float32) / 255.0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0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0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0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Tricky NumPy Challenges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0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5 puzzles to lock in today's concepts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1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1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1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is the shape of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np.arange(24).reshape(2, 3, -1)?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1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1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1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1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(2, 3, 4)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1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1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1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1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(2, 3, 8)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1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1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1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1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1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1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1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1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(24,)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Total must be 24. We have 2 × 3 = 6 already; what completes 24?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The -1 Solver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NumPy figures out the missing dimension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2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2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2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(2, 3, 4)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2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Walk through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2"/>
          <p:cNvSpPr/>
          <p:nvPr/>
        </p:nvSpPr>
        <p:spPr>
          <a:xfrm>
            <a:off x="4663440" y="182880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2"/>
          <p:cNvSpPr/>
          <p:nvPr/>
        </p:nvSpPr>
        <p:spPr>
          <a:xfrm>
            <a:off x="4800600" y="192024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Total elements: 24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Known dims: 2 × 3 =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Missing dim:  24 / 6 =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shape = (2, 3, 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3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3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3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Will this broadcast?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a = np.zeros((4, 1))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b = np.ones((1, 5))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c = a + 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3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3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3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3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Yes, c shape is (4, 5)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3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3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3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3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Yes, c shape is (5, 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3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3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3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3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Yes, c shape is (1, 1)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3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3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3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3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No — 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Each pair of dims is either equal or has a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Both Get Stretched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Outer product pattern — common in 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4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4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4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rier New"/>
              <a:buNone/>
            </a:pPr>
            <a:r>
              <a:rPr b="1" lang="en-US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(4, 5)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4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4"/>
          <p:cNvSpPr/>
          <p:nvPr/>
        </p:nvSpPr>
        <p:spPr>
          <a:xfrm>
            <a:off x="4663440" y="182880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4"/>
          <p:cNvSpPr/>
          <p:nvPr/>
        </p:nvSpPr>
        <p:spPr>
          <a:xfrm>
            <a:off x="4800600" y="192024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a:  (4, 1)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b:  (1, 5)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Right-aligned: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Last dim:  1 vs 5  -&gt; stretch 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First dim: 4 vs 1  -&gt; stretch 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Result: (4, 5)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5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5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5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For arr = np.array([[1,2,3],[4,5,6]]),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is arr.mean(axis=1)?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5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5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5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5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[2.5, 3.5, 4.5]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5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5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5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5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[2.0, 5.0]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5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5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5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5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3.5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5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5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5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5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[1.0, 2.0, 3.0]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45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axis=1 collapses columns → one number per row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6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6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Mean Across Rows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6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axis=1 collapses the columns dimension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6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6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6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[2.0, 5.0]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6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Walk through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6"/>
          <p:cNvSpPr/>
          <p:nvPr/>
        </p:nvSpPr>
        <p:spPr>
          <a:xfrm>
            <a:off x="4663440" y="182880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6"/>
          <p:cNvSpPr/>
          <p:nvPr/>
        </p:nvSpPr>
        <p:spPr>
          <a:xfrm>
            <a:off x="4800600" y="192024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[[1, 2, 3],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[4, 5, 6]]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axis=1 -&gt; mean across each row: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row 0: (1+2+3)/3 = 2.0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row 1: (4+5+6)/3 = 5.0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7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7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7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What's wrong with this?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arr = np.array([1, 2, 3, 4, 5])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print(arr[arr &gt; 1 and arr &lt; 4])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7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7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7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7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Nothing — works fine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7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7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7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7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Should be &amp; not and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7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7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7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7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Wrong array syntax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7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47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7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7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Should be 'in' not 'and'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7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'and' works on single booleans. NumPy needs the bitwise version.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Use &amp; for NumPy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and/or work on Python booleans, not arrays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8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8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8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&amp; not and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8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The fix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8"/>
          <p:cNvSpPr/>
          <p:nvPr/>
        </p:nvSpPr>
        <p:spPr>
          <a:xfrm>
            <a:off x="4663440" y="1828800"/>
            <a:ext cx="3931920" cy="1371600"/>
          </a:xfrm>
          <a:prstGeom prst="roundRect">
            <a:avLst>
              <a:gd fmla="val 5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8"/>
          <p:cNvSpPr/>
          <p:nvPr/>
        </p:nvSpPr>
        <p:spPr>
          <a:xfrm>
            <a:off x="4800600" y="192024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arr[(arr &gt; 1) &amp; (arr &lt; 4)]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[2 3]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8"/>
          <p:cNvSpPr/>
          <p:nvPr/>
        </p:nvSpPr>
        <p:spPr>
          <a:xfrm>
            <a:off x="4663440" y="333756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Note the parentheses around each side.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&amp; has high precedence — without parens, you get a different (broken) operation.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9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9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9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does this print?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a = np.arange(6)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b = a.reshape(2, 3)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b[0, 0] = 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print(a[0])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9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9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49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9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9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9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49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9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9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9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9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9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49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49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9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9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[99, 1, 2]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Does reshape make a copy or share memory?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50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50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Reshape Returns a View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50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Modifying the reshaped array modifies the original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50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50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50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99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50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50"/>
          <p:cNvSpPr/>
          <p:nvPr/>
        </p:nvSpPr>
        <p:spPr>
          <a:xfrm>
            <a:off x="4663440" y="1828800"/>
            <a:ext cx="3931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reshape returns a VIEW into the same data.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Modifying b[0, 0] modifies the same memory as a[0].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To avoid this: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0"/>
          <p:cNvSpPr/>
          <p:nvPr/>
        </p:nvSpPr>
        <p:spPr>
          <a:xfrm>
            <a:off x="4663440" y="3337560"/>
            <a:ext cx="3931920" cy="640080"/>
          </a:xfrm>
          <a:prstGeom prst="roundRect">
            <a:avLst>
              <a:gd fmla="val 11429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50"/>
          <p:cNvSpPr/>
          <p:nvPr/>
        </p:nvSpPr>
        <p:spPr>
          <a:xfrm>
            <a:off x="4800600" y="3429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a.reshape(2, 3).copy()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51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5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Today's Big Ideas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1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If you remember nothing else, remember these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51"/>
          <p:cNvSpPr/>
          <p:nvPr/>
        </p:nvSpPr>
        <p:spPr>
          <a:xfrm>
            <a:off x="640080" y="137160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reshape changes shape WITHOUT moving data — total elements must match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-1 lets NumPy compute one dimension for you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Broadcasting stretches mismatched shapes virtually — no memory cost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Right-align shapes; pairs must be equal or include a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axis=0 collapses rows (per column). axis=1 collapses cols (per row)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Slicing &amp; reshape make views. Boolean indexing makes copies. Use .copy() to be safe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&amp; and | for arrays, not 'and' / 'or'. Always parenthesize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51"/>
          <p:cNvSpPr/>
          <p:nvPr/>
        </p:nvSpPr>
        <p:spPr>
          <a:xfrm>
            <a:off x="8595360" y="4663440"/>
            <a:ext cx="228600" cy="2286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5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What's Coming Up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5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Day 5 explores Python in the wild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52"/>
          <p:cNvSpPr/>
          <p:nvPr/>
        </p:nvSpPr>
        <p:spPr>
          <a:xfrm>
            <a:off x="640080" y="137160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Day 5: Python in industry — pip, real packages, calling APIs live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We'll do the syllabus group activity: 'Where else is Python used?'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You'll install your first third-party package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Day 6: The bridge to AI — your last preparation week before Week 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This week's task: complete DataCamp 'Functions &amp; Packages' AND 'NumPy' chapters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Combined with Week 1, that's your Week 2 Assignment — due Sunday 11:59pm PT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52"/>
          <p:cNvSpPr/>
          <p:nvPr/>
        </p:nvSpPr>
        <p:spPr>
          <a:xfrm>
            <a:off x="8595360" y="4663440"/>
            <a:ext cx="228600" cy="2286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3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53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00BCD4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5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That's a Wrap!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53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53"/>
          <p:cNvSpPr/>
          <p:nvPr/>
        </p:nvSpPr>
        <p:spPr>
          <a:xfrm>
            <a:off x="548640" y="1417320"/>
            <a:ext cx="4572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300"/>
              <a:buFont typeface="Calibri"/>
              <a:buChar char="✓"/>
            </a:pPr>
            <a:r>
              <a:rPr lang="en-US" sz="13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Reshape and broadcasting are the daily bread of ML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AF5FF"/>
              </a:buClr>
              <a:buSzPts val="1300"/>
              <a:buFont typeface="Calibri"/>
              <a:buChar char="✓"/>
            </a:pPr>
            <a:r>
              <a:rPr lang="en-US" sz="13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Always think shape-first — most NumPy errors are shape errors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AF5FF"/>
              </a:buClr>
              <a:buSzPts val="1300"/>
              <a:buFont typeface="Calibri"/>
              <a:buChar char="✓"/>
            </a:pPr>
            <a:r>
              <a:rPr lang="en-US" sz="13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axis=0 is down, axis=1 is across — say it out loud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AF5FF"/>
              </a:buClr>
              <a:buSzPts val="1300"/>
              <a:buFont typeface="Calibri"/>
              <a:buChar char="✓"/>
            </a:pPr>
            <a:r>
              <a:rPr lang="en-US" sz="13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Views save memory but bite when you mutate. .copy() is your friend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53"/>
          <p:cNvSpPr/>
          <p:nvPr/>
        </p:nvSpPr>
        <p:spPr>
          <a:xfrm>
            <a:off x="5394960" y="1097280"/>
            <a:ext cx="3383280" cy="1828800"/>
          </a:xfrm>
          <a:prstGeom prst="roundRect">
            <a:avLst>
              <a:gd fmla="val 6000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53"/>
          <p:cNvSpPr/>
          <p:nvPr/>
        </p:nvSpPr>
        <p:spPr>
          <a:xfrm>
            <a:off x="5532120" y="1188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THIS WEEK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53"/>
          <p:cNvSpPr/>
          <p:nvPr/>
        </p:nvSpPr>
        <p:spPr>
          <a:xfrm>
            <a:off x="5532120" y="1463040"/>
            <a:ext cx="32004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DataCamp 'Functions &amp; Packages' AND 'NumPy' chapters before Day 5. Combined with Week 1 chapters — submit screenshots of all 4 by Sunday 11:59pm PT.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53"/>
          <p:cNvSpPr/>
          <p:nvPr/>
        </p:nvSpPr>
        <p:spPr>
          <a:xfrm>
            <a:off x="5394960" y="3108960"/>
            <a:ext cx="3383280" cy="1463040"/>
          </a:xfrm>
          <a:prstGeom prst="roundRect">
            <a:avLst>
              <a:gd fmla="val 7500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53"/>
          <p:cNvSpPr/>
          <p:nvPr/>
        </p:nvSpPr>
        <p:spPr>
          <a:xfrm>
            <a:off x="5532120" y="3200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NEXT CLASS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53"/>
          <p:cNvSpPr/>
          <p:nvPr/>
        </p:nvSpPr>
        <p:spPr>
          <a:xfrm>
            <a:off x="5532120" y="347472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Day 5: Python in the Real World — meet pip, requests, and real APIs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5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Questions? Catch me after class or on the discussion board.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54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E91E63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54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0BCD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54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lang="en-US" sz="7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5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Stuck on a shape error? Bring it to office hours.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5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aashishdhakal@westcliff.edu  ·  LinkedIn: aashish-dhakal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5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 you Day 5 — and don't forget those DataCamp chapters!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