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0" Type="http://schemas.openxmlformats.org/officeDocument/2006/relationships/slide" Target="slides/slide46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" name="Google Shape;23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" name="Google Shape;24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7" name="Google Shape;10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3" name="Google Shape;17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4" name="Google Shape;17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7" name="Google Shape;187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4" name="Google Shape;244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9" name="Google Shape;269;p1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0" name="Google Shape;270;p1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p1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p1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p1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1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6" name="Google Shape;326;p1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0" name="Google Shape;340;p2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2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p2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2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72" name="Google Shape;372;p2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2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6" name="Google Shape;386;p2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2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1" name="Google Shape;411;p2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2" name="Google Shape;412;p2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5" name="Google Shape;425;p2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2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5" name="Google Shape;435;p2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7" name="Google Shape;447;p2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8" name="Google Shape;448;p2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5" name="Google Shape;465;p2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Google Shape;466;p2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9" name="Google Shape;479;p3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3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93" name="Google Shape;493;p3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4" name="Google Shape;494;p3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3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3" name="Google Shape;503;p3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4" name="Google Shape;504;p3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3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30" name="Google Shape;530;p3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1" name="Google Shape;531;p3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3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8" name="Google Shape;548;p3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3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62" name="Google Shape;562;p3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3" name="Google Shape;563;p3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80" name="Google Shape;580;p3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1" name="Google Shape;581;p3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2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4" name="Google Shape;594;p3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5" name="Google Shape;595;p3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8" name="Google Shape;608;p3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9" name="Google Shape;609;p3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0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3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22" name="Google Shape;622;p3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3" name="Google Shape;623;p3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4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32" name="Google Shape;632;p4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3" name="Google Shape;633;p4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42" name="Google Shape;642;p4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3" name="Google Shape;643;p4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5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p4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7" name="Google Shape;667;p4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8" name="Google Shape;668;p4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4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82" name="Google Shape;682;p4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3" name="Google Shape;683;p4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07" name="Google Shape;707;p4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8" name="Google Shape;708;p4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p4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25" name="Google Shape;725;p4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6" name="Google Shape;726;p4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8" name="Shape 7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9" name="Google Shape;749;p4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50" name="Google Shape;750;p4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51" name="Google Shape;751;p4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2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64" name="Google Shape;764;p4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5" name="Google Shape;765;p4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7" name="Shape 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" name="Google Shape;788;p5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9" name="Google Shape;789;p5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0" name="Google Shape;790;p5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A0B2E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-1371600" y="-1371600"/>
            <a:ext cx="3657600" cy="3657600"/>
          </a:xfrm>
          <a:prstGeom prst="ellipse">
            <a:avLst/>
          </a:prstGeom>
          <a:solidFill>
            <a:srgbClr val="E91E63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7772400" y="3657600"/>
            <a:ext cx="3200400" cy="3200400"/>
          </a:xfrm>
          <a:prstGeom prst="ellipse">
            <a:avLst/>
          </a:prstGeom>
          <a:solidFill>
            <a:srgbClr val="00BCD4">
              <a:alpha val="6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5486400" y="-914400"/>
            <a:ext cx="2286000" cy="2286000"/>
          </a:xfrm>
          <a:prstGeom prst="ellipse">
            <a:avLst/>
          </a:prstGeom>
          <a:solidFill>
            <a:srgbClr val="FFC107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548640" y="457200"/>
            <a:ext cx="3291840" cy="411480"/>
          </a:xfrm>
          <a:prstGeom prst="roundRect">
            <a:avLst>
              <a:gd fmla="val 48889" name="adj"/>
            </a:avLst>
          </a:prstGeom>
          <a:solidFill>
            <a:srgbClr val="FFC107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548640" y="457200"/>
            <a:ext cx="3291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A0B2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A0B2E"/>
                </a:solidFill>
                <a:latin typeface="Calibri"/>
                <a:ea typeface="Calibri"/>
                <a:cs typeface="Calibri"/>
                <a:sym typeface="Calibri"/>
              </a:rPr>
              <a:t>DCS 404  ·  WEEK 1  ·  DAY 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457200" y="1005840"/>
            <a:ext cx="274320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1000"/>
              <a:buFont typeface="Calibri"/>
              <a:buNone/>
            </a:pPr>
            <a:r>
              <a:rPr b="1" lang="en-US" sz="110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548640" y="914400"/>
            <a:ext cx="1371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DAY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548640" y="265176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Lists, Indexing &amp; Slicing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548640" y="402336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How Python stores collections of data — and grabs any piece of them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Today's Roadmap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What we'll cover today, in order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48640" y="1280160"/>
            <a:ext cx="1051560" cy="329184"/>
          </a:xfrm>
          <a:prstGeom prst="roundRect">
            <a:avLst>
              <a:gd fmla="val 16667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1280160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737360" y="1280160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Recap of Day 1 + warm-up question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548640" y="1664208"/>
            <a:ext cx="1051560" cy="329184"/>
          </a:xfrm>
          <a:prstGeom prst="roundRect">
            <a:avLst>
              <a:gd fmla="val 16667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48640" y="1664208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1737360" y="1664208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Why lists? Real-world examples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48640" y="2048256"/>
            <a:ext cx="1051560" cy="329184"/>
          </a:xfrm>
          <a:prstGeom prst="roundRect">
            <a:avLst>
              <a:gd fmla="val 16667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48640" y="2048256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 LAB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1737360" y="2048256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Live coding: creating, indexing, slicing lists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48640" y="2432304"/>
            <a:ext cx="1051560" cy="329184"/>
          </a:xfrm>
          <a:prstGeom prst="roundRect">
            <a:avLst>
              <a:gd fmla="val 16667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48640" y="2432304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CODE LAB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1737360" y="2432304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List methods: append, insert, sort, remove, pop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48640" y="2816352"/>
            <a:ext cx="1051560" cy="329184"/>
          </a:xfrm>
          <a:prstGeom prst="roundRect">
            <a:avLst>
              <a:gd fmla="val 16667" name="adj"/>
            </a:avLst>
          </a:prstGeom>
          <a:solidFill>
            <a:srgbClr val="6B728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548640" y="2816352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BREAK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4"/>
          <p:cNvSpPr/>
          <p:nvPr/>
        </p:nvSpPr>
        <p:spPr>
          <a:xfrm>
            <a:off x="1737360" y="2816352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Break — water, stretch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548640" y="3200400"/>
            <a:ext cx="1051560" cy="329184"/>
          </a:xfrm>
          <a:prstGeom prst="roundRect">
            <a:avLst>
              <a:gd fmla="val 16667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4"/>
          <p:cNvSpPr/>
          <p:nvPr/>
        </p:nvSpPr>
        <p:spPr>
          <a:xfrm>
            <a:off x="548640" y="3200400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ACTIVITY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737360" y="3200400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Pair lab: Class Roster Manager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4"/>
          <p:cNvSpPr/>
          <p:nvPr/>
        </p:nvSpPr>
        <p:spPr>
          <a:xfrm>
            <a:off x="548640" y="3584448"/>
            <a:ext cx="1051560" cy="329184"/>
          </a:xfrm>
          <a:prstGeom prst="roundRect">
            <a:avLst>
              <a:gd fmla="val 16667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548640" y="3584448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LECTURE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4"/>
          <p:cNvSpPr/>
          <p:nvPr/>
        </p:nvSpPr>
        <p:spPr>
          <a:xfrm>
            <a:off x="1737360" y="3584448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Tuples, sets, and dictionaries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548640" y="3968496"/>
            <a:ext cx="1051560" cy="329184"/>
          </a:xfrm>
          <a:prstGeom prst="roundRect">
            <a:avLst>
              <a:gd fmla="val 16667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4"/>
          <p:cNvSpPr/>
          <p:nvPr/>
        </p:nvSpPr>
        <p:spPr>
          <a:xfrm>
            <a:off x="548640" y="3968496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DISCUSS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737360" y="3968496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Tricky Python challenges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548640" y="4352544"/>
            <a:ext cx="1051560" cy="329184"/>
          </a:xfrm>
          <a:prstGeom prst="roundRect">
            <a:avLst>
              <a:gd fmla="val 16667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48640" y="4352544"/>
            <a:ext cx="105156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WRAP-UP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1737360" y="4352544"/>
            <a:ext cx="69494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Recap and Q&amp;A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/>
          <p:nvPr/>
        </p:nvSpPr>
        <p:spPr>
          <a:xfrm>
            <a:off x="457200" y="457200"/>
            <a:ext cx="1645920" cy="457200"/>
          </a:xfrm>
          <a:prstGeom prst="roundRect">
            <a:avLst>
              <a:gd fmla="val 2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457200" y="4572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CHECK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Warm-up: which line will Python complain about?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457200" y="25146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594360" y="2679192"/>
            <a:ext cx="457200" cy="4572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94360" y="26791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1188720" y="25146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x = 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754880" y="25146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892040" y="2679192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892040" y="26791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486400" y="25146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y = 'hello'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457200" y="33832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594360" y="354787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94360" y="35478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1188720" y="33832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1st_score = 90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754880" y="33832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4892040" y="3547872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4892040" y="35478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5486400" y="33832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_secret = True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Hint: Variable names can't start with a digit — same as yesterday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6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Answer — Same Rule as Day 1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Python identifiers must start with a letter or underscore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457200" y="1463040"/>
            <a:ext cx="3931920" cy="2560320"/>
          </a:xfrm>
          <a:prstGeom prst="roundRect">
            <a:avLst>
              <a:gd fmla="val 5357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57200" y="155448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b="1" lang="en-US" sz="8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457200" y="274320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200"/>
              <a:buFont typeface="Courier New"/>
              <a:buNone/>
            </a:pPr>
            <a:r>
              <a:rPr b="1" lang="en-US" sz="2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1st_score = 90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57200" y="338328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AF5FF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FAF5FF"/>
                </a:solidFill>
                <a:latin typeface="Calibri"/>
                <a:ea typeface="Calibri"/>
                <a:cs typeface="Calibri"/>
                <a:sym typeface="Calibri"/>
              </a:rPr>
              <a:t>SyntaxError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4663440" y="14630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Quick reminder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663440" y="1874520"/>
            <a:ext cx="393192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0B981"/>
                </a:solidFill>
                <a:latin typeface="Calibri"/>
                <a:ea typeface="Calibri"/>
                <a:cs typeface="Calibri"/>
                <a:sym typeface="Calibri"/>
              </a:rPr>
              <a:t>Allowed:  x, name, _private, score3, my_var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E91E63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Not allowed:  1st_score, 2pi, 9lives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Allowed but discouraged:  __dunder__ (Python uses these for special methods)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Why? Python parses code left to right. A digit at the start signals 'this is a number,' not a name.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3AED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7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FC107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E91E63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PART 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7"/>
          <p:cNvSpPr/>
          <p:nvPr/>
        </p:nvSpPr>
        <p:spPr>
          <a:xfrm>
            <a:off x="548640" y="2194560"/>
            <a:ext cx="8046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Lists — Python's Workhorse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7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5FF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FAF5FF"/>
                </a:solidFill>
                <a:latin typeface="Calibri"/>
                <a:ea typeface="Calibri"/>
                <a:cs typeface="Calibri"/>
                <a:sym typeface="Calibri"/>
              </a:rPr>
              <a:t>If you'll work with data, you'll work with lists every single day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Why Lists Matter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Almost every dataset starts as a list of something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8"/>
          <p:cNvSpPr/>
          <p:nvPr/>
        </p:nvSpPr>
        <p:spPr>
          <a:xfrm>
            <a:off x="640080" y="1371600"/>
            <a:ext cx="804672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Stock prices over time → list of floats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Names in a class → list of strings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Pixels in an image row → list of numbers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Tweets to analyze → list of strings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Sensor readings → list of dictionaries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Lists are the bridge between raw data and ML algorithms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8595360" y="4663440"/>
            <a:ext cx="228600" cy="2286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9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9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Real Data Lives in Lists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9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Examples from Nepal-flavored datasets you might actually work with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9"/>
          <p:cNvSpPr/>
          <p:nvPr/>
        </p:nvSpPr>
        <p:spPr>
          <a:xfrm>
            <a:off x="457200" y="1325880"/>
            <a:ext cx="4023360" cy="1554480"/>
          </a:xfrm>
          <a:prstGeom prst="roundRect">
            <a:avLst>
              <a:gd fmla="val 5882" name="adj"/>
            </a:avLst>
          </a:prstGeom>
          <a:solidFill>
            <a:srgbClr val="FAF5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9"/>
          <p:cNvSpPr/>
          <p:nvPr/>
        </p:nvSpPr>
        <p:spPr>
          <a:xfrm>
            <a:off x="457200" y="1325880"/>
            <a:ext cx="91440" cy="155448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9"/>
          <p:cNvSpPr/>
          <p:nvPr/>
        </p:nvSpPr>
        <p:spPr>
          <a:xfrm>
            <a:off x="685800" y="1463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Kathmandu AQI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9"/>
          <p:cNvSpPr/>
          <p:nvPr/>
        </p:nvSpPr>
        <p:spPr>
          <a:xfrm>
            <a:off x="685800" y="1828800"/>
            <a:ext cx="3657600" cy="548640"/>
          </a:xfrm>
          <a:prstGeom prst="roundRect">
            <a:avLst>
              <a:gd fmla="val 8333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9"/>
          <p:cNvSpPr/>
          <p:nvPr/>
        </p:nvSpPr>
        <p:spPr>
          <a:xfrm>
            <a:off x="777240" y="187452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[145, 162, 138, 192, 178, ...]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9"/>
          <p:cNvSpPr/>
          <p:nvPr/>
        </p:nvSpPr>
        <p:spPr>
          <a:xfrm>
            <a:off x="685800" y="24231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Daily air quality readings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9"/>
          <p:cNvSpPr/>
          <p:nvPr/>
        </p:nvSpPr>
        <p:spPr>
          <a:xfrm>
            <a:off x="4617720" y="1325880"/>
            <a:ext cx="4023360" cy="1554480"/>
          </a:xfrm>
          <a:prstGeom prst="roundRect">
            <a:avLst>
              <a:gd fmla="val 5882" name="adj"/>
            </a:avLst>
          </a:prstGeom>
          <a:solidFill>
            <a:srgbClr val="FAF5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/>
          <p:nvPr/>
        </p:nvSpPr>
        <p:spPr>
          <a:xfrm>
            <a:off x="4617720" y="1325880"/>
            <a:ext cx="91440" cy="1554480"/>
          </a:xfrm>
          <a:prstGeom prst="rect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4846320" y="14630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Class Names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4846320" y="1828800"/>
            <a:ext cx="3657600" cy="548640"/>
          </a:xfrm>
          <a:prstGeom prst="roundRect">
            <a:avLst>
              <a:gd fmla="val 8333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4937760" y="187452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['Sita', 'Ramesh', 'Anita', ...]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/>
          <p:nvPr/>
        </p:nvSpPr>
        <p:spPr>
          <a:xfrm>
            <a:off x="4846320" y="242316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Students enrolled this semester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457200" y="3017520"/>
            <a:ext cx="4023360" cy="1554480"/>
          </a:xfrm>
          <a:prstGeom prst="roundRect">
            <a:avLst>
              <a:gd fmla="val 5882" name="adj"/>
            </a:avLst>
          </a:prstGeom>
          <a:solidFill>
            <a:srgbClr val="FAF5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457200" y="3017520"/>
            <a:ext cx="91440" cy="1554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685800" y="31546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Trekking Altitudes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685800" y="3520440"/>
            <a:ext cx="3657600" cy="548640"/>
          </a:xfrm>
          <a:prstGeom prst="roundRect">
            <a:avLst>
              <a:gd fmla="val 8333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777240" y="356616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[1400, 2800, 4200, 5364]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/>
          <p:nvPr/>
        </p:nvSpPr>
        <p:spPr>
          <a:xfrm>
            <a:off x="685800" y="41148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EBC trek camp elevations (m)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4617720" y="3017520"/>
            <a:ext cx="4023360" cy="1554480"/>
          </a:xfrm>
          <a:prstGeom prst="roundRect">
            <a:avLst>
              <a:gd fmla="val 5882" name="adj"/>
            </a:avLst>
          </a:prstGeom>
          <a:solidFill>
            <a:srgbClr val="FAF5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4617720" y="3017520"/>
            <a:ext cx="91440" cy="15544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4846320" y="315468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Earthquake Magnitudes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4846320" y="3520440"/>
            <a:ext cx="3657600" cy="548640"/>
          </a:xfrm>
          <a:prstGeom prst="roundRect">
            <a:avLst>
              <a:gd fmla="val 8333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4937760" y="3566160"/>
            <a:ext cx="3566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[4.2, 5.1, 3.8, 6.0, 4.5]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/>
          <p:nvPr/>
        </p:nvSpPr>
        <p:spPr>
          <a:xfrm>
            <a:off x="4846320" y="411480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Recent tremors near Kathmandu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3AED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FC107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0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E91E63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0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PART 2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0"/>
          <p:cNvSpPr/>
          <p:nvPr/>
        </p:nvSpPr>
        <p:spPr>
          <a:xfrm>
            <a:off x="548640" y="2194560"/>
            <a:ext cx="8046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Creating &amp; Accessing Lists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0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5FF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FAF5FF"/>
                </a:solidFill>
                <a:latin typeface="Calibri"/>
                <a:ea typeface="Calibri"/>
                <a:cs typeface="Calibri"/>
                <a:sym typeface="Calibri"/>
              </a:rPr>
              <a:t>Square brackets are your friend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1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Creating Lists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1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Lists hold any type, any mix, any length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1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1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1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1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Empty list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empty = []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List of numbers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scores = [85, 92, 78, 95, 88]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List of strings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fruits = ["apple", "banana", "kiwi"]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Mixed types — Python doesn't mind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mixed = ["Sita", 21, True, 1.68]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Lists can hold lists (nested)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matrix = [[1, 2, 3],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[4, 5, 6],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  [7, 8, 9]]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Length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print(len(scores))     # 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print(len(matrix))     # 3 (rows)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2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2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Indexing Lists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Each item has a position — index starts at 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2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2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2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2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scores = [85, 92, 78, 95, 88]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        [0]  [1]  [2]  [3]  [4]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        [-5] [-4] [-3] [-2] [-1]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Forward indexing (from the start)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print(scores[0])      # 85 (first)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print(scores[2])      # 78 (third)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Negative indexing (from the end)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print(scores[-1])     # 88 (last)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print(scores[-2])     # 95 (second-to-last)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Modify by index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scores[0] = 90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print(scores)         # [90, 92, 78, 95, 88]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Index out of range = IndexError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print(scores[10])     # IndexError!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3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Visual — How List Indexing Works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 same item has TWO valid index numbers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3"/>
          <p:cNvSpPr/>
          <p:nvPr/>
        </p:nvSpPr>
        <p:spPr>
          <a:xfrm>
            <a:off x="457200" y="137160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800"/>
              <a:buFont typeface="Courier New"/>
              <a:buNone/>
            </a:pPr>
            <a:r>
              <a:rPr b="1" lang="en-US" sz="18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scores = [85, 92, 78, 95, 88]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3"/>
          <p:cNvSpPr/>
          <p:nvPr/>
        </p:nvSpPr>
        <p:spPr>
          <a:xfrm>
            <a:off x="457200" y="205740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0BCD4"/>
                </a:solidFill>
                <a:latin typeface="Calibri"/>
                <a:ea typeface="Calibri"/>
                <a:cs typeface="Calibri"/>
                <a:sym typeface="Calibri"/>
              </a:rPr>
              <a:t>Forward index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1828800" y="2057400"/>
            <a:ext cx="365760" cy="36576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1828800" y="2057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3"/>
          <p:cNvSpPr/>
          <p:nvPr/>
        </p:nvSpPr>
        <p:spPr>
          <a:xfrm>
            <a:off x="3108960" y="2057400"/>
            <a:ext cx="365760" cy="36576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3108960" y="2057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3"/>
          <p:cNvSpPr/>
          <p:nvPr/>
        </p:nvSpPr>
        <p:spPr>
          <a:xfrm>
            <a:off x="4389120" y="2057400"/>
            <a:ext cx="365760" cy="36576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3"/>
          <p:cNvSpPr/>
          <p:nvPr/>
        </p:nvSpPr>
        <p:spPr>
          <a:xfrm>
            <a:off x="4389120" y="2057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5669280" y="2057400"/>
            <a:ext cx="365760" cy="36576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3"/>
          <p:cNvSpPr/>
          <p:nvPr/>
        </p:nvSpPr>
        <p:spPr>
          <a:xfrm>
            <a:off x="5669280" y="2057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3"/>
          <p:cNvSpPr/>
          <p:nvPr/>
        </p:nvSpPr>
        <p:spPr>
          <a:xfrm>
            <a:off x="6949440" y="2057400"/>
            <a:ext cx="365760" cy="36576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6949440" y="205740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3"/>
          <p:cNvSpPr/>
          <p:nvPr/>
        </p:nvSpPr>
        <p:spPr>
          <a:xfrm>
            <a:off x="1371600" y="2560320"/>
            <a:ext cx="1188720" cy="822960"/>
          </a:xfrm>
          <a:prstGeom prst="roundRect">
            <a:avLst>
              <a:gd fmla="val 8889" name="adj"/>
            </a:avLst>
          </a:prstGeom>
          <a:solidFill>
            <a:srgbClr val="FAF5FF"/>
          </a:solidFill>
          <a:ln cap="flat" cmpd="sng" w="25400">
            <a:solidFill>
              <a:srgbClr val="1A0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3"/>
          <p:cNvSpPr/>
          <p:nvPr/>
        </p:nvSpPr>
        <p:spPr>
          <a:xfrm>
            <a:off x="1371600" y="256032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800"/>
              <a:buFont typeface="Courier New"/>
              <a:buNone/>
            </a:pPr>
            <a:r>
              <a:rPr b="1" lang="en-US" sz="28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85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2651760" y="2560320"/>
            <a:ext cx="1188720" cy="822960"/>
          </a:xfrm>
          <a:prstGeom prst="roundRect">
            <a:avLst>
              <a:gd fmla="val 8889" name="adj"/>
            </a:avLst>
          </a:prstGeom>
          <a:solidFill>
            <a:srgbClr val="FAF5FF"/>
          </a:solidFill>
          <a:ln cap="flat" cmpd="sng" w="25400">
            <a:solidFill>
              <a:srgbClr val="1A0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3"/>
          <p:cNvSpPr/>
          <p:nvPr/>
        </p:nvSpPr>
        <p:spPr>
          <a:xfrm>
            <a:off x="2651760" y="256032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800"/>
              <a:buFont typeface="Courier New"/>
              <a:buNone/>
            </a:pPr>
            <a:r>
              <a:rPr b="1" lang="en-US" sz="28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92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3"/>
          <p:cNvSpPr/>
          <p:nvPr/>
        </p:nvSpPr>
        <p:spPr>
          <a:xfrm>
            <a:off x="3931920" y="2560320"/>
            <a:ext cx="1188720" cy="822960"/>
          </a:xfrm>
          <a:prstGeom prst="roundRect">
            <a:avLst>
              <a:gd fmla="val 8889" name="adj"/>
            </a:avLst>
          </a:prstGeom>
          <a:solidFill>
            <a:srgbClr val="FAF5FF"/>
          </a:solidFill>
          <a:ln cap="flat" cmpd="sng" w="25400">
            <a:solidFill>
              <a:srgbClr val="1A0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3931920" y="256032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800"/>
              <a:buFont typeface="Courier New"/>
              <a:buNone/>
            </a:pPr>
            <a:r>
              <a:rPr b="1" lang="en-US" sz="28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78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5212080" y="2560320"/>
            <a:ext cx="1188720" cy="822960"/>
          </a:xfrm>
          <a:prstGeom prst="roundRect">
            <a:avLst>
              <a:gd fmla="val 8889" name="adj"/>
            </a:avLst>
          </a:prstGeom>
          <a:solidFill>
            <a:srgbClr val="FAF5FF"/>
          </a:solidFill>
          <a:ln cap="flat" cmpd="sng" w="25400">
            <a:solidFill>
              <a:srgbClr val="1A0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3"/>
          <p:cNvSpPr/>
          <p:nvPr/>
        </p:nvSpPr>
        <p:spPr>
          <a:xfrm>
            <a:off x="5212080" y="256032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800"/>
              <a:buFont typeface="Courier New"/>
              <a:buNone/>
            </a:pPr>
            <a:r>
              <a:rPr b="1" lang="en-US" sz="28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95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3"/>
          <p:cNvSpPr/>
          <p:nvPr/>
        </p:nvSpPr>
        <p:spPr>
          <a:xfrm>
            <a:off x="6492240" y="2560320"/>
            <a:ext cx="1188720" cy="822960"/>
          </a:xfrm>
          <a:prstGeom prst="roundRect">
            <a:avLst>
              <a:gd fmla="val 8889" name="adj"/>
            </a:avLst>
          </a:prstGeom>
          <a:solidFill>
            <a:srgbClr val="FAF5FF"/>
          </a:solidFill>
          <a:ln cap="flat" cmpd="sng" w="25400">
            <a:solidFill>
              <a:srgbClr val="1A0B2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3"/>
          <p:cNvSpPr/>
          <p:nvPr/>
        </p:nvSpPr>
        <p:spPr>
          <a:xfrm>
            <a:off x="6492240" y="2560320"/>
            <a:ext cx="11887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800"/>
              <a:buFont typeface="Courier New"/>
              <a:buNone/>
            </a:pPr>
            <a:r>
              <a:rPr b="1" lang="en-US" sz="28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88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3"/>
          <p:cNvSpPr/>
          <p:nvPr/>
        </p:nvSpPr>
        <p:spPr>
          <a:xfrm>
            <a:off x="457200" y="3520440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Backward index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3"/>
          <p:cNvSpPr/>
          <p:nvPr/>
        </p:nvSpPr>
        <p:spPr>
          <a:xfrm>
            <a:off x="1783080" y="3520440"/>
            <a:ext cx="457200" cy="3657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3"/>
          <p:cNvSpPr/>
          <p:nvPr/>
        </p:nvSpPr>
        <p:spPr>
          <a:xfrm>
            <a:off x="1783080" y="35204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-5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3"/>
          <p:cNvSpPr/>
          <p:nvPr/>
        </p:nvSpPr>
        <p:spPr>
          <a:xfrm>
            <a:off x="3063240" y="3520440"/>
            <a:ext cx="457200" cy="3657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3"/>
          <p:cNvSpPr/>
          <p:nvPr/>
        </p:nvSpPr>
        <p:spPr>
          <a:xfrm>
            <a:off x="3063240" y="35204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3"/>
          <p:cNvSpPr/>
          <p:nvPr/>
        </p:nvSpPr>
        <p:spPr>
          <a:xfrm>
            <a:off x="4343400" y="3520440"/>
            <a:ext cx="457200" cy="3657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3"/>
          <p:cNvSpPr/>
          <p:nvPr/>
        </p:nvSpPr>
        <p:spPr>
          <a:xfrm>
            <a:off x="4343400" y="35204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5623560" y="3520440"/>
            <a:ext cx="457200" cy="3657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5623560" y="35204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3"/>
          <p:cNvSpPr/>
          <p:nvPr/>
        </p:nvSpPr>
        <p:spPr>
          <a:xfrm>
            <a:off x="6903720" y="3520440"/>
            <a:ext cx="457200" cy="36576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/>
          <p:nvPr/>
        </p:nvSpPr>
        <p:spPr>
          <a:xfrm>
            <a:off x="6903720" y="352044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-1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/>
          <p:nvPr/>
        </p:nvSpPr>
        <p:spPr>
          <a:xfrm>
            <a:off x="457200" y="42062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400"/>
              <a:buFont typeface="Courier New"/>
              <a:buNone/>
            </a:pPr>
            <a:r>
              <a:rPr b="1" lang="en-US" sz="1400">
                <a:solidFill>
                  <a:srgbClr val="00BCD4"/>
                </a:solidFill>
                <a:latin typeface="Courier New"/>
                <a:ea typeface="Courier New"/>
                <a:cs typeface="Courier New"/>
                <a:sym typeface="Courier New"/>
              </a:rPr>
              <a:t>scores[0]  </a:t>
            </a:r>
            <a:r>
              <a:rPr lang="en-US" sz="1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and  </a:t>
            </a:r>
            <a:r>
              <a:rPr b="1" lang="en-US" sz="1400">
                <a:solidFill>
                  <a:srgbClr val="E91E63"/>
                </a:solidFill>
                <a:latin typeface="Courier New"/>
                <a:ea typeface="Courier New"/>
                <a:cs typeface="Courier New"/>
                <a:sym typeface="Courier New"/>
              </a:rPr>
              <a:t>scores[-5]  </a:t>
            </a:r>
            <a:r>
              <a:rPr lang="en-US" sz="1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both give 85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400"/>
              <a:buFont typeface="Courier New"/>
              <a:buNone/>
            </a:pPr>
            <a:r>
              <a:rPr b="1" lang="en-US" sz="1400">
                <a:solidFill>
                  <a:srgbClr val="E91E63"/>
                </a:solidFill>
                <a:latin typeface="Courier New"/>
                <a:ea typeface="Courier New"/>
                <a:cs typeface="Courier New"/>
                <a:sym typeface="Courier New"/>
              </a:rPr>
              <a:t>scores[-1]  </a:t>
            </a:r>
            <a:r>
              <a:rPr lang="en-US" sz="1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is the cleanest way to grab the last item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4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4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Slicing Lists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4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Same syntax as strings: [start : stop : step]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4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4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4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4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4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4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nums = [10, 20, 30, 40, 50, 60, 70]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      [0]  [1]  [2]  [3]  [4]  [5]  [6]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Basic slicing — stop is EXCLUSIVE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print(nums[1:4])      # [20, 30, 40]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print(nums[:3])       # [10, 20, 30]    (from start)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print(nums[3:])       # [40, 50, 60, 70] (to end)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print(nums[-3:])      # [50, 60, 70]    (last 3)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With step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print(nums[::2])      # [10, 30, 50, 70] (every 2nd)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print(nums[1::2])     # [20, 40, 60]    (odd indices)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print(nums[::-1])     # [70, 60, 50, 40, 30, 20, 10] (reversed!)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Slicing returns a NEW list — original is safe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first_half = nums[:4]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first_half[0] = 999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print(nums[0])        # still 10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5"/>
          <p:cNvSpPr/>
          <p:nvPr/>
        </p:nvSpPr>
        <p:spPr>
          <a:xfrm>
            <a:off x="457200" y="457200"/>
            <a:ext cx="1645920" cy="457200"/>
          </a:xfrm>
          <a:prstGeom prst="roundRect">
            <a:avLst>
              <a:gd fmla="val 2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5"/>
          <p:cNvSpPr/>
          <p:nvPr/>
        </p:nvSpPr>
        <p:spPr>
          <a:xfrm>
            <a:off x="457200" y="4572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CHECK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5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What does scores[1:-1] return for [10, 20, 30, 40, 50]?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5"/>
          <p:cNvSpPr/>
          <p:nvPr/>
        </p:nvSpPr>
        <p:spPr>
          <a:xfrm>
            <a:off x="457200" y="25146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5"/>
          <p:cNvSpPr/>
          <p:nvPr/>
        </p:nvSpPr>
        <p:spPr>
          <a:xfrm>
            <a:off x="594360" y="2679192"/>
            <a:ext cx="457200" cy="4572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5"/>
          <p:cNvSpPr/>
          <p:nvPr/>
        </p:nvSpPr>
        <p:spPr>
          <a:xfrm>
            <a:off x="594360" y="26791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5"/>
          <p:cNvSpPr/>
          <p:nvPr/>
        </p:nvSpPr>
        <p:spPr>
          <a:xfrm>
            <a:off x="1188720" y="25146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[10, 20, 30, 40]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5"/>
          <p:cNvSpPr/>
          <p:nvPr/>
        </p:nvSpPr>
        <p:spPr>
          <a:xfrm>
            <a:off x="4754880" y="25146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5"/>
          <p:cNvSpPr/>
          <p:nvPr/>
        </p:nvSpPr>
        <p:spPr>
          <a:xfrm>
            <a:off x="4892040" y="2679192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5"/>
          <p:cNvSpPr/>
          <p:nvPr/>
        </p:nvSpPr>
        <p:spPr>
          <a:xfrm>
            <a:off x="4892040" y="26791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5"/>
          <p:cNvSpPr/>
          <p:nvPr/>
        </p:nvSpPr>
        <p:spPr>
          <a:xfrm>
            <a:off x="5486400" y="25146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[20, 30, 40]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5"/>
          <p:cNvSpPr/>
          <p:nvPr/>
        </p:nvSpPr>
        <p:spPr>
          <a:xfrm>
            <a:off x="457200" y="33832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5"/>
          <p:cNvSpPr/>
          <p:nvPr/>
        </p:nvSpPr>
        <p:spPr>
          <a:xfrm>
            <a:off x="594360" y="354787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5"/>
          <p:cNvSpPr/>
          <p:nvPr/>
        </p:nvSpPr>
        <p:spPr>
          <a:xfrm>
            <a:off x="594360" y="35478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5"/>
          <p:cNvSpPr/>
          <p:nvPr/>
        </p:nvSpPr>
        <p:spPr>
          <a:xfrm>
            <a:off x="1188720" y="33832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[20, 30, 40, 50]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5"/>
          <p:cNvSpPr/>
          <p:nvPr/>
        </p:nvSpPr>
        <p:spPr>
          <a:xfrm>
            <a:off x="4754880" y="33832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5"/>
          <p:cNvSpPr/>
          <p:nvPr/>
        </p:nvSpPr>
        <p:spPr>
          <a:xfrm>
            <a:off x="4892040" y="3547872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5"/>
          <p:cNvSpPr/>
          <p:nvPr/>
        </p:nvSpPr>
        <p:spPr>
          <a:xfrm>
            <a:off x="4892040" y="35478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5"/>
          <p:cNvSpPr/>
          <p:nvPr/>
        </p:nvSpPr>
        <p:spPr>
          <a:xfrm>
            <a:off x="5486400" y="33832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[10, 50]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5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Hint: Slicing is exclusive on the right side — and -1 means 'last index'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6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6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Answer — Slicing Drops the Endpoints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6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[1:-1] means 'from index 1 up to but NOT including the last'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6"/>
          <p:cNvSpPr/>
          <p:nvPr/>
        </p:nvSpPr>
        <p:spPr>
          <a:xfrm>
            <a:off x="457200" y="1463040"/>
            <a:ext cx="3931920" cy="2560320"/>
          </a:xfrm>
          <a:prstGeom prst="roundRect">
            <a:avLst>
              <a:gd fmla="val 5357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6"/>
          <p:cNvSpPr/>
          <p:nvPr/>
        </p:nvSpPr>
        <p:spPr>
          <a:xfrm>
            <a:off x="457200" y="155448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b="1" lang="en-US" sz="8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6"/>
          <p:cNvSpPr/>
          <p:nvPr/>
        </p:nvSpPr>
        <p:spPr>
          <a:xfrm>
            <a:off x="457200" y="274320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urier New"/>
              <a:buNone/>
            </a:pPr>
            <a:r>
              <a:rPr b="1" lang="en-US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[20, 30, 40]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6"/>
          <p:cNvSpPr/>
          <p:nvPr/>
        </p:nvSpPr>
        <p:spPr>
          <a:xfrm>
            <a:off x="4663440" y="14630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Walk through it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6"/>
          <p:cNvSpPr/>
          <p:nvPr/>
        </p:nvSpPr>
        <p:spPr>
          <a:xfrm>
            <a:off x="4663440" y="1828800"/>
            <a:ext cx="3931920" cy="1371600"/>
          </a:xfrm>
          <a:prstGeom prst="roundRect">
            <a:avLst>
              <a:gd fmla="val 5333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6"/>
          <p:cNvSpPr/>
          <p:nvPr/>
        </p:nvSpPr>
        <p:spPr>
          <a:xfrm>
            <a:off x="4800600" y="1920240"/>
            <a:ext cx="3657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scores = [10, 20, 30, 40, 50]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00BCD4"/>
                </a:solidFill>
                <a:latin typeface="Courier New"/>
                <a:ea typeface="Courier New"/>
                <a:cs typeface="Courier New"/>
                <a:sym typeface="Courier New"/>
              </a:rPr>
              <a:t>          0   1   2   3   4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C107"/>
                </a:solidFill>
                <a:latin typeface="Courier New"/>
                <a:ea typeface="Courier New"/>
                <a:cs typeface="Courier New"/>
                <a:sym typeface="Courier New"/>
              </a:rPr>
              <a:t>         -5  -4  -3  -2  -1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ourier New"/>
              <a:buNone/>
            </a:pPr>
            <a:r>
              <a:rPr lang="en-US" sz="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scores[1 : -1]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  start at 1 (=20), stop BEFORE -1 (=50)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6"/>
          <p:cNvSpPr/>
          <p:nvPr/>
        </p:nvSpPr>
        <p:spPr>
          <a:xfrm>
            <a:off x="4663440" y="333756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Index 1 included, index -1 excluded → [20, 30, 40]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3AED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7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FC107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7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E91E63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7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PART 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7"/>
          <p:cNvSpPr/>
          <p:nvPr/>
        </p:nvSpPr>
        <p:spPr>
          <a:xfrm>
            <a:off x="548640" y="2194560"/>
            <a:ext cx="8046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 Methods You'll Use Daily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7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5FF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FAF5FF"/>
                </a:solidFill>
                <a:latin typeface="Calibri"/>
                <a:ea typeface="Calibri"/>
                <a:cs typeface="Calibri"/>
                <a:sym typeface="Calibri"/>
              </a:rPr>
              <a:t>Six methods cover 80% of real-world list work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8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8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Adding Items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8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Three ways to grow a list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457200" y="1325880"/>
            <a:ext cx="8229600" cy="3246120"/>
          </a:xfrm>
          <a:prstGeom prst="roundRect">
            <a:avLst>
              <a:gd fmla="val 2254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8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8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8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8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8"/>
          <p:cNvSpPr/>
          <p:nvPr/>
        </p:nvSpPr>
        <p:spPr>
          <a:xfrm>
            <a:off x="640080" y="1783080"/>
            <a:ext cx="7863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 = [85, 92, 78]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1. append — add ONE item to the end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grades.append(95)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print(grades)              # [85, 92, 78, 95]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2. insert — add at a specific index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grades.insert(0, 100)      # insert at index 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print(grades)              # [100, 85, 92, 78, 95]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3. extend — add multiple items from another list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grades.extend([88, 91])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print(grades)              # [100, 85, 92, 78, 95, 88, 91]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8"/>
          <p:cNvSpPr/>
          <p:nvPr/>
        </p:nvSpPr>
        <p:spPr>
          <a:xfrm>
            <a:off x="457200" y="4663440"/>
            <a:ext cx="8229600" cy="365760"/>
          </a:xfrm>
          <a:prstGeom prst="roundRect">
            <a:avLst>
              <a:gd fmla="val 15000" name="adj"/>
            </a:avLst>
          </a:prstGeom>
          <a:solidFill>
            <a:srgbClr val="FFC107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8"/>
          <p:cNvSpPr/>
          <p:nvPr/>
        </p:nvSpPr>
        <p:spPr>
          <a:xfrm>
            <a:off x="566928" y="4736592"/>
            <a:ext cx="219456" cy="219456"/>
          </a:xfrm>
          <a:prstGeom prst="ellipse">
            <a:avLst/>
          </a:prstGeom>
          <a:solidFill>
            <a:srgbClr val="1A0B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8"/>
          <p:cNvSpPr/>
          <p:nvPr/>
        </p:nvSpPr>
        <p:spPr>
          <a:xfrm>
            <a:off x="566928" y="473659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100"/>
              <a:buFont typeface="Calibri"/>
              <a:buNone/>
            </a:pPr>
            <a:r>
              <a:rPr b="1" i="1" lang="en-US" sz="11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8"/>
          <p:cNvSpPr/>
          <p:nvPr/>
        </p:nvSpPr>
        <p:spPr>
          <a:xfrm>
            <a:off x="868680" y="4663440"/>
            <a:ext cx="7726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append adds one item. insert places it. extend adds many items at once.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19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9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append vs extend — Common Mistake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9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These look similar but behave very differently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9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9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9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9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9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Wrong way — using append with a list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nums = [1, 2, 3]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nums.append([4, 5])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print(nums)                # [1, 2, 3, [4, 5]]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Notice the nested list!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nums now has 4 items: 1, 2, 3, and the list [4, 5]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Right way — using extend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nums = [1, 2, 3]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nums.extend([4, 5])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print(nums)                # [1, 2, 3, 4, 5]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nums now has 5 items: 1, 2, 3, 4, 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Quick rule: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.append(x)       adds x as ONE thing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.extend([a, b])  adds a, then b, separately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list1 + list2    creates a NEW combined list (no mutation)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20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20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Removing Items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0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Three ways to shrink a list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0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0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0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0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0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 = [85, 92, 78, 95, 88]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1. remove — by VALUE (removes first match)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grades.remove(78)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print(grades)              # [85, 92, 95, 88]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2. pop — by INDEX, returns the value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last = grades.pop()        # default: removes last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print(last)                # 88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print(grades)              # [85, 92, 95]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first = grades.pop(0)      # remove at index 0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print(first)               # 85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print(grades)              # [92, 95]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3. del — Python keyword, no return value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 = [85, 92, 78, 95, 88]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del grades[1]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print(grades)              # [85, 78, 95, 88]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clear — empty the whole list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grades.clear()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print(grades)              # []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21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1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Sorting &amp; Reversing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21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Two ways to order a list — pay attention to the difference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1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1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21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21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21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1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 = [85, 92, 78, 95, 88]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Sort IN PLACE (changes the original)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grades.sort()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print(grades)              # [78, 85, 88, 92, 95]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grades.sort(reverse=True)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print(grades)              # [95, 92, 88, 85, 78]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Sort and return a NEW list (original unchanged)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 = [85, 92, 78, 95, 88]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new_list = sorted(grades)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print(new_list)            # [78, 85, 88, 92, 95]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print(grades)              # [85, 92, 78, 95, 88]  unchanged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Reverse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 = [85, 92, 78]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grades.reverse()           # in place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print(grades)              # [78, 92, 85]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Or use slicing — returns a new list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new = grades[::-1]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print(new)                 # [85, 92, 78]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2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22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Useful Built-ins — Numbers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Functions that summarize a list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22"/>
          <p:cNvSpPr/>
          <p:nvPr/>
        </p:nvSpPr>
        <p:spPr>
          <a:xfrm>
            <a:off x="457200" y="1325880"/>
            <a:ext cx="8229600" cy="3246120"/>
          </a:xfrm>
          <a:prstGeom prst="roundRect">
            <a:avLst>
              <a:gd fmla="val 2254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22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22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2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2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2"/>
          <p:cNvSpPr/>
          <p:nvPr/>
        </p:nvSpPr>
        <p:spPr>
          <a:xfrm>
            <a:off x="640080" y="1783080"/>
            <a:ext cx="7863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 = [85, 92, 78, 95, 88]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Math summaries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print(len(grades))           # 5  (count)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print(sum(grades))           # 438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print(max(grades))           # 95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print(min(grades))           # 78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Average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avg = sum(grades) / len(grades)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print(f"Average: {avg:.1f}") # Average: 87.6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Membership check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print(95 in grades)          # True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print(100 in grades)         # False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2"/>
          <p:cNvSpPr/>
          <p:nvPr/>
        </p:nvSpPr>
        <p:spPr>
          <a:xfrm>
            <a:off x="457200" y="4663440"/>
            <a:ext cx="8229600" cy="365760"/>
          </a:xfrm>
          <a:prstGeom prst="roundRect">
            <a:avLst>
              <a:gd fmla="val 15000" name="adj"/>
            </a:avLst>
          </a:prstGeom>
          <a:solidFill>
            <a:srgbClr val="FFC107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22"/>
          <p:cNvSpPr/>
          <p:nvPr/>
        </p:nvSpPr>
        <p:spPr>
          <a:xfrm>
            <a:off x="566928" y="4736592"/>
            <a:ext cx="219456" cy="219456"/>
          </a:xfrm>
          <a:prstGeom prst="ellipse">
            <a:avLst/>
          </a:prstGeom>
          <a:solidFill>
            <a:srgbClr val="1A0B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2"/>
          <p:cNvSpPr/>
          <p:nvPr/>
        </p:nvSpPr>
        <p:spPr>
          <a:xfrm>
            <a:off x="566928" y="473659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100"/>
              <a:buFont typeface="Calibri"/>
              <a:buNone/>
            </a:pPr>
            <a:r>
              <a:rPr b="1" i="1" lang="en-US" sz="11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2"/>
          <p:cNvSpPr/>
          <p:nvPr/>
        </p:nvSpPr>
        <p:spPr>
          <a:xfrm>
            <a:off x="868680" y="4663440"/>
            <a:ext cx="7726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len, sum, max, min, in — these five cover most data analysis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23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23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Useful Built-ins — Search &amp; Convert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23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Find items, count them, convert other types to lists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3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3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3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3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3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23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Count occurrences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data = [1, 2, 2, 3, 2, 4]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print(data.count(2))         # 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Find an index (first match)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 = [85, 92, 78, 95, 88]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print(grades.index(92))      # 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index() raises ValueError if not found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Always check with 'in' first if unsure: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if 100 in grades: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print(grades.index(100))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else: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print("Not found")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Convert other things to lists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print(list("hello"))         # ['h', 'e', 'l', 'l', 'o']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print(list(range(5)))        # [0, 1, 2, 3, 4]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print(list(range(2, 10, 2))) # [2, 4, 6, 8]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24"/>
          <p:cNvSpPr/>
          <p:nvPr/>
        </p:nvSpPr>
        <p:spPr>
          <a:xfrm>
            <a:off x="457200" y="457200"/>
            <a:ext cx="1645920" cy="457200"/>
          </a:xfrm>
          <a:prstGeom prst="roundRect">
            <a:avLst>
              <a:gd fmla="val 2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4"/>
          <p:cNvSpPr/>
          <p:nvPr/>
        </p:nvSpPr>
        <p:spPr>
          <a:xfrm>
            <a:off x="457200" y="4572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CHECK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24"/>
          <p:cNvSpPr/>
          <p:nvPr/>
        </p:nvSpPr>
        <p:spPr>
          <a:xfrm>
            <a:off x="457200" y="1097280"/>
            <a:ext cx="8229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What does this print?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nums = [3, 1, 4, 1, 5]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nums.sort()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print(nums.index(4))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4"/>
          <p:cNvSpPr/>
          <p:nvPr/>
        </p:nvSpPr>
        <p:spPr>
          <a:xfrm>
            <a:off x="457200" y="29718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4"/>
          <p:cNvSpPr/>
          <p:nvPr/>
        </p:nvSpPr>
        <p:spPr>
          <a:xfrm>
            <a:off x="594360" y="3136392"/>
            <a:ext cx="457200" cy="4572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4"/>
          <p:cNvSpPr/>
          <p:nvPr/>
        </p:nvSpPr>
        <p:spPr>
          <a:xfrm>
            <a:off x="594360" y="3136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24"/>
          <p:cNvSpPr/>
          <p:nvPr/>
        </p:nvSpPr>
        <p:spPr>
          <a:xfrm>
            <a:off x="1188720" y="29718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4"/>
          <p:cNvSpPr/>
          <p:nvPr/>
        </p:nvSpPr>
        <p:spPr>
          <a:xfrm>
            <a:off x="4754880" y="29718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24"/>
          <p:cNvSpPr/>
          <p:nvPr/>
        </p:nvSpPr>
        <p:spPr>
          <a:xfrm>
            <a:off x="4892040" y="3136392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4"/>
          <p:cNvSpPr/>
          <p:nvPr/>
        </p:nvSpPr>
        <p:spPr>
          <a:xfrm>
            <a:off x="4892040" y="3136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24"/>
          <p:cNvSpPr/>
          <p:nvPr/>
        </p:nvSpPr>
        <p:spPr>
          <a:xfrm>
            <a:off x="5486400" y="29718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24"/>
          <p:cNvSpPr/>
          <p:nvPr/>
        </p:nvSpPr>
        <p:spPr>
          <a:xfrm>
            <a:off x="457200" y="38404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24"/>
          <p:cNvSpPr/>
          <p:nvPr/>
        </p:nvSpPr>
        <p:spPr>
          <a:xfrm>
            <a:off x="594360" y="400507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4"/>
          <p:cNvSpPr/>
          <p:nvPr/>
        </p:nvSpPr>
        <p:spPr>
          <a:xfrm>
            <a:off x="59436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4"/>
          <p:cNvSpPr/>
          <p:nvPr/>
        </p:nvSpPr>
        <p:spPr>
          <a:xfrm>
            <a:off x="1188720" y="3840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4"/>
          <p:cNvSpPr/>
          <p:nvPr/>
        </p:nvSpPr>
        <p:spPr>
          <a:xfrm>
            <a:off x="4754880" y="38404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4"/>
          <p:cNvSpPr/>
          <p:nvPr/>
        </p:nvSpPr>
        <p:spPr>
          <a:xfrm>
            <a:off x="4892040" y="4005072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24"/>
          <p:cNvSpPr/>
          <p:nvPr/>
        </p:nvSpPr>
        <p:spPr>
          <a:xfrm>
            <a:off x="489204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4"/>
          <p:cNvSpPr/>
          <p:nvPr/>
        </p:nvSpPr>
        <p:spPr>
          <a:xfrm>
            <a:off x="5486400" y="3840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Error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4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Hint: After sorting, where does 4 land?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5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5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Answer — Sort Then Find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25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Order matters — sort changes the indices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25"/>
          <p:cNvSpPr/>
          <p:nvPr/>
        </p:nvSpPr>
        <p:spPr>
          <a:xfrm>
            <a:off x="457200" y="1463040"/>
            <a:ext cx="3931920" cy="2560320"/>
          </a:xfrm>
          <a:prstGeom prst="roundRect">
            <a:avLst>
              <a:gd fmla="val 5357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5"/>
          <p:cNvSpPr/>
          <p:nvPr/>
        </p:nvSpPr>
        <p:spPr>
          <a:xfrm>
            <a:off x="457200" y="155448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b="1" lang="en-US" sz="8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5"/>
          <p:cNvSpPr/>
          <p:nvPr/>
        </p:nvSpPr>
        <p:spPr>
          <a:xfrm>
            <a:off x="457200" y="274320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ourier New"/>
              <a:buNone/>
            </a:pPr>
            <a:r>
              <a:rPr b="1" lang="en-US" sz="32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3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5"/>
          <p:cNvSpPr/>
          <p:nvPr/>
        </p:nvSpPr>
        <p:spPr>
          <a:xfrm>
            <a:off x="4663440" y="14630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Walk through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5"/>
          <p:cNvSpPr/>
          <p:nvPr/>
        </p:nvSpPr>
        <p:spPr>
          <a:xfrm>
            <a:off x="4663440" y="1828800"/>
            <a:ext cx="3931920" cy="2286000"/>
          </a:xfrm>
          <a:prstGeom prst="roundRect">
            <a:avLst>
              <a:gd fmla="val 3200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25"/>
          <p:cNvSpPr/>
          <p:nvPr/>
        </p:nvSpPr>
        <p:spPr>
          <a:xfrm>
            <a:off x="4800600" y="1920240"/>
            <a:ext cx="3657600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Before sort: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[3, 1, 4, 1, 5]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00BCD4"/>
                </a:solidFill>
                <a:latin typeface="Courier New"/>
                <a:ea typeface="Courier New"/>
                <a:cs typeface="Courier New"/>
                <a:sym typeface="Courier New"/>
              </a:rPr>
              <a:t> 0  1  2  3  4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ourier New"/>
              <a:buNone/>
            </a:pPr>
            <a:r>
              <a:rPr lang="en-US" sz="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6B7280"/>
                </a:solidFill>
                <a:latin typeface="Courier New"/>
                <a:ea typeface="Courier New"/>
                <a:cs typeface="Courier New"/>
                <a:sym typeface="Courier New"/>
              </a:rPr>
              <a:t>After sort():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300"/>
              <a:buFont typeface="Courier New"/>
              <a:buNone/>
            </a:pPr>
            <a:r>
              <a:rPr lang="en-US" sz="13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[1, 1, 3, 4, 5]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C107"/>
                </a:solidFill>
                <a:latin typeface="Courier New"/>
                <a:ea typeface="Courier New"/>
                <a:cs typeface="Courier New"/>
                <a:sym typeface="Courier New"/>
              </a:rPr>
              <a:t> 0  1  2  3  4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ourier New"/>
              <a:buNone/>
            </a:pPr>
            <a:r>
              <a:rPr lang="en-US" sz="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4 is at index 3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3AED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6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FC107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6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E91E63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6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PART 4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6"/>
          <p:cNvSpPr/>
          <p:nvPr/>
        </p:nvSpPr>
        <p:spPr>
          <a:xfrm>
            <a:off x="548640" y="2194560"/>
            <a:ext cx="8046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Pair Lab — Class Roster Manager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6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5FF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FAF5FF"/>
                </a:solidFill>
                <a:latin typeface="Calibri"/>
                <a:ea typeface="Calibri"/>
                <a:cs typeface="Calibri"/>
                <a:sym typeface="Calibri"/>
              </a:rPr>
              <a:t>Build a tiny gradebook using everything we've covered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7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7"/>
          <p:cNvSpPr/>
          <p:nvPr/>
        </p:nvSpPr>
        <p:spPr>
          <a:xfrm>
            <a:off x="548640" y="22860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0B2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A0B2E"/>
                </a:solidFill>
                <a:latin typeface="Calibri"/>
                <a:ea typeface="Calibri"/>
                <a:cs typeface="Calibri"/>
                <a:sym typeface="Calibri"/>
              </a:rPr>
              <a:t>HANDS-ON ACTIVITY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7"/>
          <p:cNvSpPr/>
          <p:nvPr/>
        </p:nvSpPr>
        <p:spPr>
          <a:xfrm>
            <a:off x="548640" y="548640"/>
            <a:ext cx="6858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 Roster Manager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27"/>
          <p:cNvSpPr/>
          <p:nvPr/>
        </p:nvSpPr>
        <p:spPr>
          <a:xfrm>
            <a:off x="7589520" y="365760"/>
            <a:ext cx="1097280" cy="457200"/>
          </a:xfrm>
          <a:prstGeom prst="roundRect">
            <a:avLst>
              <a:gd fmla="val 16000" name="adj"/>
            </a:avLst>
          </a:prstGeom>
          <a:solidFill>
            <a:srgbClr val="1A0B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7"/>
          <p:cNvSpPr/>
          <p:nvPr/>
        </p:nvSpPr>
        <p:spPr>
          <a:xfrm>
            <a:off x="7589520" y="365760"/>
            <a:ext cx="1097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35 min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7"/>
          <p:cNvSpPr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C3AED"/>
              </a:buClr>
              <a:buSzPts val="1400"/>
              <a:buFont typeface="Calibri"/>
              <a:buNone/>
            </a:pPr>
            <a:r>
              <a:rPr i="1" lang="en-US" sz="1400">
                <a:solidFill>
                  <a:srgbClr val="7C3AED"/>
                </a:solidFill>
                <a:latin typeface="Calibri"/>
                <a:ea typeface="Calibri"/>
                <a:cs typeface="Calibri"/>
                <a:sym typeface="Calibri"/>
              </a:rPr>
              <a:t>Group of 3. One driver, two navigators. Switch every 5 minutes.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7"/>
          <p:cNvSpPr/>
          <p:nvPr/>
        </p:nvSpPr>
        <p:spPr>
          <a:xfrm>
            <a:off x="640080" y="1920240"/>
            <a:ext cx="804672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Start with a list of 5 student names and a parallel list of 5 grades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1B2E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Add a new student with append() — name goes in names, grade goes in grades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1B2E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Find the highest grade using max() — print the corresponding student's name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1B2E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Sort grades in descending order — print the top 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1B2E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Calculate the class average using sum() and len()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1B2E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Bonus: print every student whose grade is above the average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1B2E"/>
              </a:buClr>
              <a:buSzPts val="1400"/>
              <a:buFont typeface="Calibri"/>
              <a:buAutoNum type="arabicPeriod"/>
            </a:pPr>
            <a:r>
              <a:rPr lang="en-US" sz="1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Whichever team finishes first demos to the class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28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8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Class Roster — Solution Part 1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8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Setup, add a student, find the top scorer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28"/>
          <p:cNvSpPr/>
          <p:nvPr/>
        </p:nvSpPr>
        <p:spPr>
          <a:xfrm>
            <a:off x="457200" y="1325880"/>
            <a:ext cx="8229600" cy="3246120"/>
          </a:xfrm>
          <a:prstGeom prst="roundRect">
            <a:avLst>
              <a:gd fmla="val 2254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8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28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8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28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28"/>
          <p:cNvSpPr/>
          <p:nvPr/>
        </p:nvSpPr>
        <p:spPr>
          <a:xfrm>
            <a:off x="640080" y="1783080"/>
            <a:ext cx="7863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Setup — parallel lists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names  = ["Sita", "Ramesh", "Anita", "Bikash", "Priya"]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 = [85, 92, 78, 95, 88]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Step 2: add a new student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names.append("Sunil")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grades.append(91)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print(names)               # ['Sita', 'Ramesh', ..., 'Sunil']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print(grades)              # [85, 92, 78, 95, 88, 91]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Step 3: find the highest scorer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top_grade = max(grades)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top_index = grades.index(top_grade)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top_name  = names[top_index]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print(f"Top student: {top_name} with {top_grade}")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Top student: Bikash with 95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28"/>
          <p:cNvSpPr/>
          <p:nvPr/>
        </p:nvSpPr>
        <p:spPr>
          <a:xfrm>
            <a:off x="457200" y="4663440"/>
            <a:ext cx="8229600" cy="365760"/>
          </a:xfrm>
          <a:prstGeom prst="roundRect">
            <a:avLst>
              <a:gd fmla="val 15000" name="adj"/>
            </a:avLst>
          </a:prstGeom>
          <a:solidFill>
            <a:srgbClr val="FFC107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p28"/>
          <p:cNvSpPr/>
          <p:nvPr/>
        </p:nvSpPr>
        <p:spPr>
          <a:xfrm>
            <a:off x="566928" y="4736592"/>
            <a:ext cx="219456" cy="219456"/>
          </a:xfrm>
          <a:prstGeom prst="ellipse">
            <a:avLst/>
          </a:prstGeom>
          <a:solidFill>
            <a:srgbClr val="1A0B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28"/>
          <p:cNvSpPr/>
          <p:nvPr/>
        </p:nvSpPr>
        <p:spPr>
          <a:xfrm>
            <a:off x="566928" y="473659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100"/>
              <a:buFont typeface="Calibri"/>
              <a:buNone/>
            </a:pPr>
            <a:r>
              <a:rPr b="1" i="1" lang="en-US" sz="11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28"/>
          <p:cNvSpPr/>
          <p:nvPr/>
        </p:nvSpPr>
        <p:spPr>
          <a:xfrm>
            <a:off x="868680" y="4663440"/>
            <a:ext cx="7726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Parallel lists: same index = same student. Use one list's index in another.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29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29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Class Roster — Solution Part 2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9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Top 3, average, bonus filter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9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29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29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9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29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29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Step 4: sort grades in descending order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sorted_grades = sorted(grades, reverse=True)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top_3 = sorted_grades[:3]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print(f"Top 3 grades: {top_3}")    # [95, 92, 91]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Step 5: class average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avg = sum(grades) / len(grades)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print(f"Class average: {avg:.2f}")  # 88.17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Bonus: above-average students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print("Above average students:")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for i in range(len(names)):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if grades[i] &gt; avg: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    print(f"  {names[i]}: {grades[i]}")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Sita: 85 — NOT shown (below avg)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Ramesh: 92  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Bikash: 95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Sunil: 91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0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0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 Cleaner Way — zip()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0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Pair two lists together — much more Pythonic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30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30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7" name="Google Shape;487;p30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30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30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0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names  = ["Sita", "Ramesh", "Anita", "Bikash", "Priya"]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grades = [85, 92, 78, 95, 88]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zip pairs them up — like a zipper closing two sides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for name, grade in zip(names, grades):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print(f"{name}: {grade}")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Sita: 85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Ramesh: 92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Anita: 78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...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Find above-average students cleanly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avg = sum(grades) / len(grades)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above = [name for name, grade in zip(names, grades) if grade &gt; avg]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print(above)          # ['Ramesh', 'Bikash']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Sort students by grade together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pairs = sorted(zip(grades, names), reverse=True)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print(pairs[:3])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[(95, 'Bikash'), (92, 'Ramesh'), (88, 'Priya')]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3AED"/>
        </a:solidFill>
      </p:bgPr>
    </p:bg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31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FC107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1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E91E63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1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PART 5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31"/>
          <p:cNvSpPr/>
          <p:nvPr/>
        </p:nvSpPr>
        <p:spPr>
          <a:xfrm>
            <a:off x="548640" y="2194560"/>
            <a:ext cx="8046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Beyond Lists — Tuples, Sets, Dicts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31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5FF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FAF5FF"/>
                </a:solidFill>
                <a:latin typeface="Calibri"/>
                <a:ea typeface="Calibri"/>
                <a:cs typeface="Calibri"/>
                <a:sym typeface="Calibri"/>
              </a:rPr>
              <a:t>Lists aren't always the right tool for the job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2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32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Pick Your Container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3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Each is best at one thing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32"/>
          <p:cNvSpPr/>
          <p:nvPr/>
        </p:nvSpPr>
        <p:spPr>
          <a:xfrm>
            <a:off x="457200" y="1828800"/>
            <a:ext cx="1851660" cy="2011680"/>
          </a:xfrm>
          <a:prstGeom prst="roundRect">
            <a:avLst>
              <a:gd fmla="val 4938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2"/>
          <p:cNvSpPr/>
          <p:nvPr/>
        </p:nvSpPr>
        <p:spPr>
          <a:xfrm>
            <a:off x="594360" y="1965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32"/>
          <p:cNvSpPr/>
          <p:nvPr/>
        </p:nvSpPr>
        <p:spPr>
          <a:xfrm>
            <a:off x="594360" y="2468880"/>
            <a:ext cx="15773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List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32"/>
          <p:cNvSpPr/>
          <p:nvPr/>
        </p:nvSpPr>
        <p:spPr>
          <a:xfrm>
            <a:off x="594360" y="2926080"/>
            <a:ext cx="15773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Changeable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Duplicates OK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[1, 2, 2, 3]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2"/>
          <p:cNvSpPr/>
          <p:nvPr/>
        </p:nvSpPr>
        <p:spPr>
          <a:xfrm>
            <a:off x="2263140" y="260604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2"/>
          <p:cNvSpPr/>
          <p:nvPr/>
        </p:nvSpPr>
        <p:spPr>
          <a:xfrm>
            <a:off x="2583180" y="1828800"/>
            <a:ext cx="1851660" cy="2011680"/>
          </a:xfrm>
          <a:prstGeom prst="roundRect">
            <a:avLst>
              <a:gd fmla="val 4938" name="adj"/>
            </a:avLst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2"/>
          <p:cNvSpPr/>
          <p:nvPr/>
        </p:nvSpPr>
        <p:spPr>
          <a:xfrm>
            <a:off x="2720340" y="1965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2"/>
          <p:cNvSpPr/>
          <p:nvPr/>
        </p:nvSpPr>
        <p:spPr>
          <a:xfrm>
            <a:off x="2720340" y="2468880"/>
            <a:ext cx="15773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Tuple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2"/>
          <p:cNvSpPr/>
          <p:nvPr/>
        </p:nvSpPr>
        <p:spPr>
          <a:xfrm>
            <a:off x="2720340" y="2926080"/>
            <a:ext cx="15773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Ordered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Fixed forever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Duplicates OK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(lat, lng)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p32"/>
          <p:cNvSpPr/>
          <p:nvPr/>
        </p:nvSpPr>
        <p:spPr>
          <a:xfrm>
            <a:off x="4389120" y="260604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32"/>
          <p:cNvSpPr/>
          <p:nvPr/>
        </p:nvSpPr>
        <p:spPr>
          <a:xfrm>
            <a:off x="4709160" y="1828800"/>
            <a:ext cx="1851660" cy="2011680"/>
          </a:xfrm>
          <a:prstGeom prst="roundRect">
            <a:avLst>
              <a:gd fmla="val 4938" name="adj"/>
            </a:avLst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32"/>
          <p:cNvSpPr/>
          <p:nvPr/>
        </p:nvSpPr>
        <p:spPr>
          <a:xfrm>
            <a:off x="4846320" y="1965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2"/>
          <p:cNvSpPr/>
          <p:nvPr/>
        </p:nvSpPr>
        <p:spPr>
          <a:xfrm>
            <a:off x="4846320" y="2468880"/>
            <a:ext cx="15773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2"/>
          <p:cNvSpPr/>
          <p:nvPr/>
        </p:nvSpPr>
        <p:spPr>
          <a:xfrm>
            <a:off x="4846320" y="2926080"/>
            <a:ext cx="15773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Unordered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Unique only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 duplicates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{1, 2, 3}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32"/>
          <p:cNvSpPr/>
          <p:nvPr/>
        </p:nvSpPr>
        <p:spPr>
          <a:xfrm>
            <a:off x="6515100" y="260604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2"/>
          <p:cNvSpPr/>
          <p:nvPr/>
        </p:nvSpPr>
        <p:spPr>
          <a:xfrm>
            <a:off x="6835140" y="1828800"/>
            <a:ext cx="1851660" cy="2011680"/>
          </a:xfrm>
          <a:prstGeom prst="roundRect">
            <a:avLst>
              <a:gd fmla="val 4938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32"/>
          <p:cNvSpPr/>
          <p:nvPr/>
        </p:nvSpPr>
        <p:spPr>
          <a:xfrm>
            <a:off x="6972300" y="19659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2200"/>
              <a:buFont typeface="Calibri"/>
              <a:buNone/>
            </a:pPr>
            <a:r>
              <a:rPr b="1" lang="en-US" sz="22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32"/>
          <p:cNvSpPr/>
          <p:nvPr/>
        </p:nvSpPr>
        <p:spPr>
          <a:xfrm>
            <a:off x="6972300" y="2468880"/>
            <a:ext cx="15773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Dict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2"/>
          <p:cNvSpPr/>
          <p:nvPr/>
        </p:nvSpPr>
        <p:spPr>
          <a:xfrm>
            <a:off x="6972300" y="2926080"/>
            <a:ext cx="15773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Key→Value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Fast lookup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Unique keys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{'name': 'Sita'}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3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3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Tuples — Lists That Don't Change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3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Use when data should NEVER be modified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3"/>
          <p:cNvSpPr/>
          <p:nvPr/>
        </p:nvSpPr>
        <p:spPr>
          <a:xfrm>
            <a:off x="457200" y="1325880"/>
            <a:ext cx="8229600" cy="3246120"/>
          </a:xfrm>
          <a:prstGeom prst="roundRect">
            <a:avLst>
              <a:gd fmla="val 2254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33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3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33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3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3"/>
          <p:cNvSpPr/>
          <p:nvPr/>
        </p:nvSpPr>
        <p:spPr>
          <a:xfrm>
            <a:off x="640080" y="1783080"/>
            <a:ext cx="7863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Tuples use parentheses (or just commas)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location = (27.7172, 85.3240)   # Kathmandu coordinates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rgb = (255, 100, 50)            # color values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single = (42,)                  # need the comma!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Index and slice — same as lists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print(location[0])              # 27.7172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print(rgb[1:])                  # (100, 50)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But you CANNOT change a tuple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location[0] = 28.0              # TypeError!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Why use tuples?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1. Faster than lists (Python optimizes)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2. Safe — won't change by accident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3. Can be used as dict keys (lists cannot)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3"/>
          <p:cNvSpPr/>
          <p:nvPr/>
        </p:nvSpPr>
        <p:spPr>
          <a:xfrm>
            <a:off x="457200" y="4663440"/>
            <a:ext cx="8229600" cy="365760"/>
          </a:xfrm>
          <a:prstGeom prst="roundRect">
            <a:avLst>
              <a:gd fmla="val 15000" name="adj"/>
            </a:avLst>
          </a:prstGeom>
          <a:solidFill>
            <a:srgbClr val="FFC107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3"/>
          <p:cNvSpPr/>
          <p:nvPr/>
        </p:nvSpPr>
        <p:spPr>
          <a:xfrm>
            <a:off x="566928" y="4736592"/>
            <a:ext cx="219456" cy="219456"/>
          </a:xfrm>
          <a:prstGeom prst="ellipse">
            <a:avLst/>
          </a:prstGeom>
          <a:solidFill>
            <a:srgbClr val="1A0B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3"/>
          <p:cNvSpPr/>
          <p:nvPr/>
        </p:nvSpPr>
        <p:spPr>
          <a:xfrm>
            <a:off x="566928" y="473659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100"/>
              <a:buFont typeface="Calibri"/>
              <a:buNone/>
            </a:pPr>
            <a:r>
              <a:rPr b="1" i="1" lang="en-US" sz="11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33"/>
          <p:cNvSpPr/>
          <p:nvPr/>
        </p:nvSpPr>
        <p:spPr>
          <a:xfrm>
            <a:off x="868680" y="4663440"/>
            <a:ext cx="7726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Coordinates, dates, RGB colors, dimensions — anything that's a fixed group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34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34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Tuples — Unpacking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4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One of Python's most loved features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4" name="Google Shape;554;p34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4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34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7" name="Google Shape;557;p34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4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9" name="Google Shape;559;p34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Tuple unpacking — assign multiple at once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location = (27.7172, 85.3240)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lat, lng = location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print(lat)                      # 27.7172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print(lng)                      # 85.3240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Works on any iterable (lists too)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a, b, c = [1, 2, 3]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print(a, b, c)                  # 1 2 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Functions can return multiple values via tuple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def stats(nums):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return min(nums), max(nums)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lo, hi = stats([3, 7, 1, 9])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print(lo, hi)                   # 1 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Swap two variables in one line!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x, y = 10, 20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x, y = y, x                     # Pythonic swap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print(x, y)                     # 20 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35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5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Sets — Unique Items Only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7" name="Google Shape;567;p35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When you only care about presence, not order or count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8" name="Google Shape;568;p35"/>
          <p:cNvSpPr/>
          <p:nvPr/>
        </p:nvSpPr>
        <p:spPr>
          <a:xfrm>
            <a:off x="457200" y="1325880"/>
            <a:ext cx="8229600" cy="3246120"/>
          </a:xfrm>
          <a:prstGeom prst="roundRect">
            <a:avLst>
              <a:gd fmla="val 2254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5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5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1" name="Google Shape;571;p35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5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5"/>
          <p:cNvSpPr/>
          <p:nvPr/>
        </p:nvSpPr>
        <p:spPr>
          <a:xfrm>
            <a:off x="640080" y="1783080"/>
            <a:ext cx="7863840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Create a set with curly braces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tags = {"python", "ai", "ml", "python"}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print(tags)                  # {'python', 'ai', 'ml'} — duplicate gone!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Add and remove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tags.add("colab")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tags.remove("ml")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print(tags)                  # {'python', 'ai', 'colab'}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Membership check — VERY fast (faster than list)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print("python" in tags)      # True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Common use: dedupe a list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duplicates = [1, 2, 2, 3, 3, 3, 4]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unique = list(set(duplicates))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print(unique)                # [1, 2, 3, 4]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4" name="Google Shape;574;p35"/>
          <p:cNvSpPr/>
          <p:nvPr/>
        </p:nvSpPr>
        <p:spPr>
          <a:xfrm>
            <a:off x="457200" y="4663440"/>
            <a:ext cx="8229600" cy="365760"/>
          </a:xfrm>
          <a:prstGeom prst="roundRect">
            <a:avLst>
              <a:gd fmla="val 15000" name="adj"/>
            </a:avLst>
          </a:prstGeom>
          <a:solidFill>
            <a:srgbClr val="FFC107">
              <a:alpha val="7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5" name="Google Shape;575;p35"/>
          <p:cNvSpPr/>
          <p:nvPr/>
        </p:nvSpPr>
        <p:spPr>
          <a:xfrm>
            <a:off x="566928" y="4736592"/>
            <a:ext cx="219456" cy="219456"/>
          </a:xfrm>
          <a:prstGeom prst="ellipse">
            <a:avLst/>
          </a:prstGeom>
          <a:solidFill>
            <a:srgbClr val="1A0B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5"/>
          <p:cNvSpPr/>
          <p:nvPr/>
        </p:nvSpPr>
        <p:spPr>
          <a:xfrm>
            <a:off x="566928" y="4736592"/>
            <a:ext cx="219456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100"/>
              <a:buFont typeface="Calibri"/>
              <a:buNone/>
            </a:pPr>
            <a:r>
              <a:rPr b="1" i="1" lang="en-US" sz="11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5"/>
          <p:cNvSpPr/>
          <p:nvPr/>
        </p:nvSpPr>
        <p:spPr>
          <a:xfrm>
            <a:off x="868680" y="4663440"/>
            <a:ext cx="7726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Sets dedupe automatically and check membership in O(1) — much faster than lists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6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4" name="Google Shape;584;p36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Sets — Math Operations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6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Set operations make some problems trivially easy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6" name="Google Shape;586;p36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7" name="Google Shape;587;p36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6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9" name="Google Shape;589;p36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0" name="Google Shape;590;p36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36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Roster of who attended each week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week1 = {"Sita", "Ramesh", "Anita"}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week2 = {"Sita", "Bikash", "Priya"}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Union — everyone who attended either week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print(week1 | week2)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{'Sita', 'Ramesh', 'Anita', 'Bikash', 'Priya'}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Intersection — both weeks (perfect attendance)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print(week1 &amp; week2)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{'Sita'}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Difference — only in week1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print(week1 - week2)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{'Ramesh', 'Anita'}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Symmetric difference — in one but not both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print(week1 ^ week2)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{'Ramesh', 'Anita', 'Bikash', 'Priya'}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7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37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Dictionaries — Creating &amp; Accessing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7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Key-value pairs — the JSON of Python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0" name="Google Shape;600;p37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1" name="Google Shape;601;p37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2" name="Google Shape;602;p37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3" name="Google Shape;603;p37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4" name="Google Shape;604;p37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5" name="Google Shape;605;p37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Create with curly braces, key:value pairs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student = {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"name": "Sita",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"age": 21,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"grades": [85, 92, 78],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"is_enrolled": True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Access by KEY (not index)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print(student["name"])          # Sita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print(student["grades"][0])     # 85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Add or update — same syntax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student["email"] = "sita@uni.np"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student["age"] = 22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Missing key — KeyError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print(student["phone"])         # KeyError!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38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8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Dictionaries — Safe Access &amp; Looping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3" name="Google Shape;613;p38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Avoid KeyError and iterate cleanly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8"/>
          <p:cNvSpPr/>
          <p:nvPr/>
        </p:nvSpPr>
        <p:spPr>
          <a:xfrm>
            <a:off x="457200" y="1325880"/>
            <a:ext cx="8229600" cy="3703320"/>
          </a:xfrm>
          <a:prstGeom prst="roundRect">
            <a:avLst>
              <a:gd fmla="val 1975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8"/>
          <p:cNvSpPr/>
          <p:nvPr/>
        </p:nvSpPr>
        <p:spPr>
          <a:xfrm>
            <a:off x="640080" y="1463040"/>
            <a:ext cx="118872" cy="118872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6" name="Google Shape;616;p38"/>
          <p:cNvSpPr/>
          <p:nvPr/>
        </p:nvSpPr>
        <p:spPr>
          <a:xfrm>
            <a:off x="841248" y="1463040"/>
            <a:ext cx="118872" cy="118872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7" name="Google Shape;617;p38"/>
          <p:cNvSpPr/>
          <p:nvPr/>
        </p:nvSpPr>
        <p:spPr>
          <a:xfrm>
            <a:off x="1042416" y="1463040"/>
            <a:ext cx="118872" cy="118872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8" name="Google Shape;618;p38"/>
          <p:cNvSpPr/>
          <p:nvPr/>
        </p:nvSpPr>
        <p:spPr>
          <a:xfrm>
            <a:off x="1371600" y="137160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272A4"/>
              </a:buClr>
              <a:buSzPts val="900"/>
              <a:buFont typeface="Courier New"/>
              <a:buNone/>
            </a:pPr>
            <a:r>
              <a:rPr lang="en-US" sz="900">
                <a:solidFill>
                  <a:srgbClr val="6272A4"/>
                </a:solidFill>
                <a:latin typeface="Courier New"/>
                <a:ea typeface="Courier New"/>
                <a:cs typeface="Courier New"/>
                <a:sym typeface="Courier New"/>
              </a:rPr>
              <a:t>colab.research.google.com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8"/>
          <p:cNvSpPr/>
          <p:nvPr/>
        </p:nvSpPr>
        <p:spPr>
          <a:xfrm>
            <a:off x="640080" y="1783080"/>
            <a:ext cx="786384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student = {"name": "Sita", "age": 22, "email": "sita@uni.np"}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Safe access with .get() — returns None or default if missing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print(student.get("phone"))           # None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print(student.get("phone", "N/A"))    # 'N/A' (default)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Check if a key exists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print("name" in student)              # True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print("phone" in student)             # False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Loop through keys (default)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for key in student: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print(key)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Loop through key-value pairs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for key, value in student.items():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 print(f"{key}: {value}")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t/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Just the values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000"/>
              <a:buFont typeface="Courier New"/>
              <a:buNone/>
            </a:pPr>
            <a:r>
              <a:rPr lang="en-US" sz="10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print(list(student.values()))         # ['Sita', 22, 'sita@uni.np']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39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6" name="Google Shape;626;p39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When to Use What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7" name="Google Shape;627;p39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A quick decision guide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8" name="Google Shape;628;p39"/>
          <p:cNvSpPr/>
          <p:nvPr/>
        </p:nvSpPr>
        <p:spPr>
          <a:xfrm>
            <a:off x="640080" y="1371600"/>
            <a:ext cx="804672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List — ordered data that may change (most common: rows of data, time series)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Tuple — fixed group of values (coordinates, RGB, function returns)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Set — unique items, fast membership checks (tags, IDs, dedupe)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Dict — labeled data, fast lookup by key (records, JSON, configs)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500"/>
              <a:buFont typeface="Calibri"/>
              <a:buChar char="●"/>
            </a:pPr>
            <a:r>
              <a:rPr lang="en-US" sz="15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When in doubt: start with a list, switch later if needed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9" name="Google Shape;629;p39"/>
          <p:cNvSpPr/>
          <p:nvPr/>
        </p:nvSpPr>
        <p:spPr>
          <a:xfrm>
            <a:off x="8595360" y="4663440"/>
            <a:ext cx="228600" cy="2286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7C3AED"/>
        </a:solidFill>
      </p:bgPr>
    </p:bg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0"/>
          <p:cNvSpPr/>
          <p:nvPr/>
        </p:nvSpPr>
        <p:spPr>
          <a:xfrm>
            <a:off x="6400800" y="-1828800"/>
            <a:ext cx="4572000" cy="4572000"/>
          </a:xfrm>
          <a:prstGeom prst="ellipse">
            <a:avLst/>
          </a:prstGeom>
          <a:solidFill>
            <a:srgbClr val="FFC107">
              <a:alpha val="40000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40"/>
          <p:cNvSpPr/>
          <p:nvPr/>
        </p:nvSpPr>
        <p:spPr>
          <a:xfrm>
            <a:off x="-1828800" y="2743200"/>
            <a:ext cx="3657600" cy="3657600"/>
          </a:xfrm>
          <a:prstGeom prst="ellipse">
            <a:avLst/>
          </a:prstGeom>
          <a:solidFill>
            <a:srgbClr val="E91E63">
              <a:alpha val="50196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40"/>
          <p:cNvSpPr/>
          <p:nvPr/>
        </p:nvSpPr>
        <p:spPr>
          <a:xfrm>
            <a:off x="548640" y="16459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400"/>
              <a:buFont typeface="Calibri"/>
              <a:buNone/>
            </a:pPr>
            <a:r>
              <a:rPr b="1" lang="en-US" sz="1400">
                <a:solidFill>
                  <a:srgbClr val="FFC107"/>
                </a:solidFill>
                <a:latin typeface="Calibri"/>
                <a:ea typeface="Calibri"/>
                <a:cs typeface="Calibri"/>
                <a:sym typeface="Calibri"/>
              </a:rPr>
              <a:t>PART 6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40"/>
          <p:cNvSpPr/>
          <p:nvPr/>
        </p:nvSpPr>
        <p:spPr>
          <a:xfrm>
            <a:off x="548640" y="2194560"/>
            <a:ext cx="8046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lang="en-US" sz="48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Tricky Python Challenges</a:t>
            </a:r>
            <a:endParaRPr sz="4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40"/>
          <p:cNvSpPr/>
          <p:nvPr/>
        </p:nvSpPr>
        <p:spPr>
          <a:xfrm>
            <a:off x="548640" y="3749040"/>
            <a:ext cx="80467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AF5FF"/>
              </a:buClr>
              <a:buSzPts val="1600"/>
              <a:buFont typeface="Calibri"/>
              <a:buNone/>
            </a:pPr>
            <a:r>
              <a:rPr i="1" lang="en-US" sz="1600">
                <a:solidFill>
                  <a:srgbClr val="FAF5FF"/>
                </a:solidFill>
                <a:latin typeface="Calibri"/>
                <a:ea typeface="Calibri"/>
                <a:cs typeface="Calibri"/>
                <a:sym typeface="Calibri"/>
              </a:rPr>
              <a:t>5 puzzles that catch even experienced Python users off guard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44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41"/>
          <p:cNvSpPr/>
          <p:nvPr/>
        </p:nvSpPr>
        <p:spPr>
          <a:xfrm>
            <a:off x="457200" y="457200"/>
            <a:ext cx="1645920" cy="457200"/>
          </a:xfrm>
          <a:prstGeom prst="roundRect">
            <a:avLst>
              <a:gd fmla="val 2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6" name="Google Shape;646;p41"/>
          <p:cNvSpPr/>
          <p:nvPr/>
        </p:nvSpPr>
        <p:spPr>
          <a:xfrm>
            <a:off x="457200" y="4572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CHECK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7" name="Google Shape;647;p41"/>
          <p:cNvSpPr/>
          <p:nvPr/>
        </p:nvSpPr>
        <p:spPr>
          <a:xfrm>
            <a:off x="457200" y="1097280"/>
            <a:ext cx="8229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What does this print?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a = [1, 2, 3]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b = 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b.append(4)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print(a)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8" name="Google Shape;648;p41"/>
          <p:cNvSpPr/>
          <p:nvPr/>
        </p:nvSpPr>
        <p:spPr>
          <a:xfrm>
            <a:off x="457200" y="29718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9" name="Google Shape;649;p41"/>
          <p:cNvSpPr/>
          <p:nvPr/>
        </p:nvSpPr>
        <p:spPr>
          <a:xfrm>
            <a:off x="594360" y="3136392"/>
            <a:ext cx="457200" cy="4572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0" name="Google Shape;650;p41"/>
          <p:cNvSpPr/>
          <p:nvPr/>
        </p:nvSpPr>
        <p:spPr>
          <a:xfrm>
            <a:off x="594360" y="3136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41"/>
          <p:cNvSpPr/>
          <p:nvPr/>
        </p:nvSpPr>
        <p:spPr>
          <a:xfrm>
            <a:off x="1188720" y="29718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[1, 2, 3]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2" name="Google Shape;652;p41"/>
          <p:cNvSpPr/>
          <p:nvPr/>
        </p:nvSpPr>
        <p:spPr>
          <a:xfrm>
            <a:off x="4754880" y="29718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41"/>
          <p:cNvSpPr/>
          <p:nvPr/>
        </p:nvSpPr>
        <p:spPr>
          <a:xfrm>
            <a:off x="4892040" y="3136392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4" name="Google Shape;654;p41"/>
          <p:cNvSpPr/>
          <p:nvPr/>
        </p:nvSpPr>
        <p:spPr>
          <a:xfrm>
            <a:off x="4892040" y="3136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41"/>
          <p:cNvSpPr/>
          <p:nvPr/>
        </p:nvSpPr>
        <p:spPr>
          <a:xfrm>
            <a:off x="5486400" y="29718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[1, 2, 3, 4]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41"/>
          <p:cNvSpPr/>
          <p:nvPr/>
        </p:nvSpPr>
        <p:spPr>
          <a:xfrm>
            <a:off x="457200" y="38404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7" name="Google Shape;657;p41"/>
          <p:cNvSpPr/>
          <p:nvPr/>
        </p:nvSpPr>
        <p:spPr>
          <a:xfrm>
            <a:off x="594360" y="400507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8" name="Google Shape;658;p41"/>
          <p:cNvSpPr/>
          <p:nvPr/>
        </p:nvSpPr>
        <p:spPr>
          <a:xfrm>
            <a:off x="59436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41"/>
          <p:cNvSpPr/>
          <p:nvPr/>
        </p:nvSpPr>
        <p:spPr>
          <a:xfrm>
            <a:off x="1188720" y="3840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Error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41"/>
          <p:cNvSpPr/>
          <p:nvPr/>
        </p:nvSpPr>
        <p:spPr>
          <a:xfrm>
            <a:off x="4754880" y="38404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41"/>
          <p:cNvSpPr/>
          <p:nvPr/>
        </p:nvSpPr>
        <p:spPr>
          <a:xfrm>
            <a:off x="4892040" y="4005072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41"/>
          <p:cNvSpPr/>
          <p:nvPr/>
        </p:nvSpPr>
        <p:spPr>
          <a:xfrm>
            <a:off x="489204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3" name="Google Shape;663;p41"/>
          <p:cNvSpPr/>
          <p:nvPr/>
        </p:nvSpPr>
        <p:spPr>
          <a:xfrm>
            <a:off x="5486400" y="3840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[4]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4" name="Google Shape;664;p41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Hint: When you assign a list, do you get a copy or a reference?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42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1" name="Google Shape;671;p42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Answer — Lists Are References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42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b = a doesn't copy the list — both names point to the SAME list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3" name="Google Shape;673;p42"/>
          <p:cNvSpPr/>
          <p:nvPr/>
        </p:nvSpPr>
        <p:spPr>
          <a:xfrm>
            <a:off x="457200" y="1463040"/>
            <a:ext cx="3931920" cy="2560320"/>
          </a:xfrm>
          <a:prstGeom prst="roundRect">
            <a:avLst>
              <a:gd fmla="val 5357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42"/>
          <p:cNvSpPr/>
          <p:nvPr/>
        </p:nvSpPr>
        <p:spPr>
          <a:xfrm>
            <a:off x="457200" y="155448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b="1" lang="en-US" sz="8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42"/>
          <p:cNvSpPr/>
          <p:nvPr/>
        </p:nvSpPr>
        <p:spPr>
          <a:xfrm>
            <a:off x="457200" y="274320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ourier New"/>
              <a:buNone/>
            </a:pPr>
            <a:r>
              <a:rPr b="1" lang="en-US" sz="24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[1, 2, 3, 4]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6" name="Google Shape;676;p42"/>
          <p:cNvSpPr/>
          <p:nvPr/>
        </p:nvSpPr>
        <p:spPr>
          <a:xfrm>
            <a:off x="4663440" y="14630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Why?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42"/>
          <p:cNvSpPr/>
          <p:nvPr/>
        </p:nvSpPr>
        <p:spPr>
          <a:xfrm>
            <a:off x="4663440" y="1828800"/>
            <a:ext cx="39319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b = a does NOT copy. Both labels point to the same list in memory.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Modifying through one name changes what the other sees.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b="1"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To make a real copy: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42"/>
          <p:cNvSpPr/>
          <p:nvPr/>
        </p:nvSpPr>
        <p:spPr>
          <a:xfrm>
            <a:off x="4663440" y="3246120"/>
            <a:ext cx="3931920" cy="914400"/>
          </a:xfrm>
          <a:prstGeom prst="roundRect">
            <a:avLst>
              <a:gd fmla="val 8000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42"/>
          <p:cNvSpPr/>
          <p:nvPr/>
        </p:nvSpPr>
        <p:spPr>
          <a:xfrm>
            <a:off x="4800600" y="3337560"/>
            <a:ext cx="36576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b = a.copy()        # method 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b = list(a)         # method 2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b = a[:]            # method 3 (slice trick)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43"/>
          <p:cNvSpPr/>
          <p:nvPr/>
        </p:nvSpPr>
        <p:spPr>
          <a:xfrm>
            <a:off x="457200" y="457200"/>
            <a:ext cx="1645920" cy="457200"/>
          </a:xfrm>
          <a:prstGeom prst="roundRect">
            <a:avLst>
              <a:gd fmla="val 2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43"/>
          <p:cNvSpPr/>
          <p:nvPr/>
        </p:nvSpPr>
        <p:spPr>
          <a:xfrm>
            <a:off x="457200" y="4572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CHECK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43"/>
          <p:cNvSpPr/>
          <p:nvPr/>
        </p:nvSpPr>
        <p:spPr>
          <a:xfrm>
            <a:off x="457200" y="1097280"/>
            <a:ext cx="8229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What does this give?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matrix = [[0] * 3] * 3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matrix[0][0] = 1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print(matrix)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43"/>
          <p:cNvSpPr/>
          <p:nvPr/>
        </p:nvSpPr>
        <p:spPr>
          <a:xfrm>
            <a:off x="457200" y="29718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43"/>
          <p:cNvSpPr/>
          <p:nvPr/>
        </p:nvSpPr>
        <p:spPr>
          <a:xfrm>
            <a:off x="594360" y="3136392"/>
            <a:ext cx="457200" cy="4572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0" name="Google Shape;690;p43"/>
          <p:cNvSpPr/>
          <p:nvPr/>
        </p:nvSpPr>
        <p:spPr>
          <a:xfrm>
            <a:off x="594360" y="3136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43"/>
          <p:cNvSpPr/>
          <p:nvPr/>
        </p:nvSpPr>
        <p:spPr>
          <a:xfrm>
            <a:off x="1188720" y="29718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[[1, 0, 0], [0, 0, 0], [0, 0, 0]]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2" name="Google Shape;692;p43"/>
          <p:cNvSpPr/>
          <p:nvPr/>
        </p:nvSpPr>
        <p:spPr>
          <a:xfrm>
            <a:off x="4754880" y="29718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3" name="Google Shape;693;p43"/>
          <p:cNvSpPr/>
          <p:nvPr/>
        </p:nvSpPr>
        <p:spPr>
          <a:xfrm>
            <a:off x="4892040" y="3136392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4" name="Google Shape;694;p43"/>
          <p:cNvSpPr/>
          <p:nvPr/>
        </p:nvSpPr>
        <p:spPr>
          <a:xfrm>
            <a:off x="4892040" y="3136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5" name="Google Shape;695;p43"/>
          <p:cNvSpPr/>
          <p:nvPr/>
        </p:nvSpPr>
        <p:spPr>
          <a:xfrm>
            <a:off x="5486400" y="29718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[[1, 0, 0], [1, 0, 0], [1, 0, 0]]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6" name="Google Shape;696;p43"/>
          <p:cNvSpPr/>
          <p:nvPr/>
        </p:nvSpPr>
        <p:spPr>
          <a:xfrm>
            <a:off x="457200" y="38404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43"/>
          <p:cNvSpPr/>
          <p:nvPr/>
        </p:nvSpPr>
        <p:spPr>
          <a:xfrm>
            <a:off x="594360" y="400507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8" name="Google Shape;698;p43"/>
          <p:cNvSpPr/>
          <p:nvPr/>
        </p:nvSpPr>
        <p:spPr>
          <a:xfrm>
            <a:off x="59436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43"/>
          <p:cNvSpPr/>
          <p:nvPr/>
        </p:nvSpPr>
        <p:spPr>
          <a:xfrm>
            <a:off x="1188720" y="3840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Error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43"/>
          <p:cNvSpPr/>
          <p:nvPr/>
        </p:nvSpPr>
        <p:spPr>
          <a:xfrm>
            <a:off x="4754880" y="38404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1" name="Google Shape;701;p43"/>
          <p:cNvSpPr/>
          <p:nvPr/>
        </p:nvSpPr>
        <p:spPr>
          <a:xfrm>
            <a:off x="4892040" y="4005072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2" name="Google Shape;702;p43"/>
          <p:cNvSpPr/>
          <p:nvPr/>
        </p:nvSpPr>
        <p:spPr>
          <a:xfrm>
            <a:off x="489204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3" name="Google Shape;703;p43"/>
          <p:cNvSpPr/>
          <p:nvPr/>
        </p:nvSpPr>
        <p:spPr>
          <a:xfrm>
            <a:off x="5486400" y="3840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[[1, 1, 1], [0, 0, 0], [0, 0, 0]]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43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Hint: * repeats — but does it repeat the values or the references?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44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1" name="Google Shape;711;p44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Answer — The Reference Multiplication Trap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2" name="Google Shape;712;p44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[[0] * 3] * 3 makes 3 references to the SAME inner list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44"/>
          <p:cNvSpPr/>
          <p:nvPr/>
        </p:nvSpPr>
        <p:spPr>
          <a:xfrm>
            <a:off x="457200" y="1417320"/>
            <a:ext cx="3931920" cy="2606040"/>
          </a:xfrm>
          <a:prstGeom prst="roundRect">
            <a:avLst>
              <a:gd fmla="val 5263" name="adj"/>
            </a:avLst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4" name="Google Shape;714;p44"/>
          <p:cNvSpPr/>
          <p:nvPr/>
        </p:nvSpPr>
        <p:spPr>
          <a:xfrm>
            <a:off x="457200" y="1508760"/>
            <a:ext cx="39319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0"/>
              <a:buFont typeface="Calibri"/>
              <a:buNone/>
            </a:pPr>
            <a:r>
              <a:rPr b="1" lang="en-US" sz="7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7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5" name="Google Shape;715;p44"/>
          <p:cNvSpPr/>
          <p:nvPr/>
        </p:nvSpPr>
        <p:spPr>
          <a:xfrm>
            <a:off x="457200" y="246888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 three rows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6" name="Google Shape;716;p44"/>
          <p:cNvSpPr/>
          <p:nvPr/>
        </p:nvSpPr>
        <p:spPr>
          <a:xfrm>
            <a:off x="457200" y="2880360"/>
            <a:ext cx="393192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[[1, 0, 0],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[1, 0, 0],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 [1, 0, 0]]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7" name="Google Shape;717;p44"/>
          <p:cNvSpPr/>
          <p:nvPr/>
        </p:nvSpPr>
        <p:spPr>
          <a:xfrm>
            <a:off x="4663440" y="141732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The fix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8" name="Google Shape;718;p44"/>
          <p:cNvSpPr/>
          <p:nvPr/>
        </p:nvSpPr>
        <p:spPr>
          <a:xfrm>
            <a:off x="4663440" y="1783080"/>
            <a:ext cx="39319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Use a list comprehension to create independent rows: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44"/>
          <p:cNvSpPr/>
          <p:nvPr/>
        </p:nvSpPr>
        <p:spPr>
          <a:xfrm>
            <a:off x="4663440" y="2194560"/>
            <a:ext cx="3931920" cy="1005840"/>
          </a:xfrm>
          <a:prstGeom prst="roundRect">
            <a:avLst>
              <a:gd fmla="val 7273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44"/>
          <p:cNvSpPr/>
          <p:nvPr/>
        </p:nvSpPr>
        <p:spPr>
          <a:xfrm>
            <a:off x="4800600" y="2286000"/>
            <a:ext cx="36576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matrix = [[0] * 3 for _ in range(3)]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matrix[0][0] = 1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# [[1, 0, 0], [0, 0, 0], [0, 0, 0]]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1" name="Google Shape;721;p44"/>
          <p:cNvSpPr/>
          <p:nvPr/>
        </p:nvSpPr>
        <p:spPr>
          <a:xfrm>
            <a:off x="4663440" y="32918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Each iteration of the list comp creates a fresh inner list.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2" name="Google Shape;722;p44"/>
          <p:cNvSpPr/>
          <p:nvPr/>
        </p:nvSpPr>
        <p:spPr>
          <a:xfrm>
            <a:off x="4663440" y="365760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100"/>
              <a:buFont typeface="Calibri"/>
              <a:buNone/>
            </a:pPr>
            <a:r>
              <a:rPr b="1" i="1" lang="en-US" sz="1100">
                <a:solidFill>
                  <a:srgbClr val="E91E63"/>
                </a:solidFill>
                <a:latin typeface="Calibri"/>
                <a:ea typeface="Calibri"/>
                <a:cs typeface="Calibri"/>
                <a:sym typeface="Calibri"/>
              </a:rPr>
              <a:t>This trap shows up daily in NumPy and TensorFlow code.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45"/>
          <p:cNvSpPr/>
          <p:nvPr/>
        </p:nvSpPr>
        <p:spPr>
          <a:xfrm>
            <a:off x="457200" y="457200"/>
            <a:ext cx="1645920" cy="457200"/>
          </a:xfrm>
          <a:prstGeom prst="roundRect">
            <a:avLst>
              <a:gd fmla="val 2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9" name="Google Shape;729;p45"/>
          <p:cNvSpPr/>
          <p:nvPr/>
        </p:nvSpPr>
        <p:spPr>
          <a:xfrm>
            <a:off x="457200" y="4572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CHECK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0" name="Google Shape;730;p45"/>
          <p:cNvSpPr/>
          <p:nvPr/>
        </p:nvSpPr>
        <p:spPr>
          <a:xfrm>
            <a:off x="457200" y="1097280"/>
            <a:ext cx="82296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What does this give?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nums = [1, 2, 3, 4]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result = [x*2 for x in nums if x % 2 == 0]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ourier New"/>
              <a:buNone/>
            </a:pPr>
            <a:r>
              <a:rPr lang="en-US" sz="1600">
                <a:solidFill>
                  <a:srgbClr val="1F1B2E"/>
                </a:solidFill>
                <a:latin typeface="Courier New"/>
                <a:ea typeface="Courier New"/>
                <a:cs typeface="Courier New"/>
                <a:sym typeface="Courier New"/>
              </a:rPr>
              <a:t>   print(result)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1" name="Google Shape;731;p45"/>
          <p:cNvSpPr/>
          <p:nvPr/>
        </p:nvSpPr>
        <p:spPr>
          <a:xfrm>
            <a:off x="457200" y="29718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2" name="Google Shape;732;p45"/>
          <p:cNvSpPr/>
          <p:nvPr/>
        </p:nvSpPr>
        <p:spPr>
          <a:xfrm>
            <a:off x="594360" y="3136392"/>
            <a:ext cx="457200" cy="4572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3" name="Google Shape;733;p45"/>
          <p:cNvSpPr/>
          <p:nvPr/>
        </p:nvSpPr>
        <p:spPr>
          <a:xfrm>
            <a:off x="594360" y="3136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45"/>
          <p:cNvSpPr/>
          <p:nvPr/>
        </p:nvSpPr>
        <p:spPr>
          <a:xfrm>
            <a:off x="1188720" y="29718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[2, 4, 6, 8]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5" name="Google Shape;735;p45"/>
          <p:cNvSpPr/>
          <p:nvPr/>
        </p:nvSpPr>
        <p:spPr>
          <a:xfrm>
            <a:off x="4754880" y="29718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6" name="Google Shape;736;p45"/>
          <p:cNvSpPr/>
          <p:nvPr/>
        </p:nvSpPr>
        <p:spPr>
          <a:xfrm>
            <a:off x="4892040" y="3136392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7" name="Google Shape;737;p45"/>
          <p:cNvSpPr/>
          <p:nvPr/>
        </p:nvSpPr>
        <p:spPr>
          <a:xfrm>
            <a:off x="4892040" y="31363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8" name="Google Shape;738;p45"/>
          <p:cNvSpPr/>
          <p:nvPr/>
        </p:nvSpPr>
        <p:spPr>
          <a:xfrm>
            <a:off x="5486400" y="29718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[4, 8]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9" name="Google Shape;739;p45"/>
          <p:cNvSpPr/>
          <p:nvPr/>
        </p:nvSpPr>
        <p:spPr>
          <a:xfrm>
            <a:off x="457200" y="38404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0" name="Google Shape;740;p45"/>
          <p:cNvSpPr/>
          <p:nvPr/>
        </p:nvSpPr>
        <p:spPr>
          <a:xfrm>
            <a:off x="594360" y="400507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1" name="Google Shape;741;p45"/>
          <p:cNvSpPr/>
          <p:nvPr/>
        </p:nvSpPr>
        <p:spPr>
          <a:xfrm>
            <a:off x="59436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p45"/>
          <p:cNvSpPr/>
          <p:nvPr/>
        </p:nvSpPr>
        <p:spPr>
          <a:xfrm>
            <a:off x="1188720" y="3840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[2, 4]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3" name="Google Shape;743;p45"/>
          <p:cNvSpPr/>
          <p:nvPr/>
        </p:nvSpPr>
        <p:spPr>
          <a:xfrm>
            <a:off x="4754880" y="38404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4" name="Google Shape;744;p45"/>
          <p:cNvSpPr/>
          <p:nvPr/>
        </p:nvSpPr>
        <p:spPr>
          <a:xfrm>
            <a:off x="4892040" y="4005072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5" name="Google Shape;745;p45"/>
          <p:cNvSpPr/>
          <p:nvPr/>
        </p:nvSpPr>
        <p:spPr>
          <a:xfrm>
            <a:off x="4892040" y="40050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6" name="Google Shape;746;p45"/>
          <p:cNvSpPr/>
          <p:nvPr/>
        </p:nvSpPr>
        <p:spPr>
          <a:xfrm>
            <a:off x="5486400" y="38404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[1, 4, 9, 16]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7" name="Google Shape;747;p45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Hint: List comprehensions can have an if filter at the end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46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46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Answer — List Comprehension Power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46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Filter THEN transform, all in one line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46"/>
          <p:cNvSpPr/>
          <p:nvPr/>
        </p:nvSpPr>
        <p:spPr>
          <a:xfrm>
            <a:off x="457200" y="1463040"/>
            <a:ext cx="3931920" cy="2560320"/>
          </a:xfrm>
          <a:prstGeom prst="roundRect">
            <a:avLst>
              <a:gd fmla="val 5357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46"/>
          <p:cNvSpPr/>
          <p:nvPr/>
        </p:nvSpPr>
        <p:spPr>
          <a:xfrm>
            <a:off x="457200" y="155448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b="1" lang="en-US" sz="8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46"/>
          <p:cNvSpPr/>
          <p:nvPr/>
        </p:nvSpPr>
        <p:spPr>
          <a:xfrm>
            <a:off x="457200" y="274320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Courier New"/>
              <a:buNone/>
            </a:pPr>
            <a:r>
              <a:rPr b="1" lang="en-US" sz="28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[4, 8]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46"/>
          <p:cNvSpPr/>
          <p:nvPr/>
        </p:nvSpPr>
        <p:spPr>
          <a:xfrm>
            <a:off x="4663440" y="14630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Step by step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46"/>
          <p:cNvSpPr/>
          <p:nvPr/>
        </p:nvSpPr>
        <p:spPr>
          <a:xfrm>
            <a:off x="4663440" y="1828800"/>
            <a:ext cx="3931920" cy="2560320"/>
          </a:xfrm>
          <a:prstGeom prst="roundRect">
            <a:avLst>
              <a:gd fmla="val 2857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46"/>
          <p:cNvSpPr/>
          <p:nvPr/>
        </p:nvSpPr>
        <p:spPr>
          <a:xfrm>
            <a:off x="4800600" y="1920240"/>
            <a:ext cx="365760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[x*2 for x in nums if x % 2 == 0]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ourier New"/>
              <a:buNone/>
            </a:pPr>
            <a:r>
              <a:rPr lang="en-US" sz="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00BCD4"/>
                </a:solidFill>
                <a:latin typeface="Courier New"/>
                <a:ea typeface="Courier New"/>
                <a:cs typeface="Courier New"/>
                <a:sym typeface="Courier New"/>
              </a:rPr>
              <a:t>1. Take each x in [1,2,3,4]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FC107"/>
                </a:solidFill>
                <a:latin typeface="Courier New"/>
                <a:ea typeface="Courier New"/>
                <a:cs typeface="Courier New"/>
                <a:sym typeface="Courier New"/>
              </a:rPr>
              <a:t>2. Keep only if x % 2 == 0 (even)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→ keeps 2, 4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91E63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E91E63"/>
                </a:solidFill>
                <a:latin typeface="Courier New"/>
                <a:ea typeface="Courier New"/>
                <a:cs typeface="Courier New"/>
                <a:sym typeface="Courier New"/>
              </a:rPr>
              <a:t>3. Apply x*2 to each kept value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 → 2*2=4, 4*2=8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ourier New"/>
              <a:buNone/>
            </a:pPr>
            <a:r>
              <a:rPr lang="en-US" sz="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Result: [4, 8]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66" name="Shape 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7" name="Google Shape;767;p47"/>
          <p:cNvSpPr/>
          <p:nvPr/>
        </p:nvSpPr>
        <p:spPr>
          <a:xfrm>
            <a:off x="457200" y="457200"/>
            <a:ext cx="1645920" cy="457200"/>
          </a:xfrm>
          <a:prstGeom prst="roundRect">
            <a:avLst>
              <a:gd fmla="val 20000" name="adj"/>
            </a:avLst>
          </a:prstGeom>
          <a:solidFill>
            <a:srgbClr val="10B981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8" name="Google Shape;768;p47"/>
          <p:cNvSpPr/>
          <p:nvPr/>
        </p:nvSpPr>
        <p:spPr>
          <a:xfrm>
            <a:off x="457200" y="457200"/>
            <a:ext cx="1645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CHECK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9" name="Google Shape;769;p47"/>
          <p:cNvSpPr/>
          <p:nvPr/>
        </p:nvSpPr>
        <p:spPr>
          <a:xfrm>
            <a:off x="457200" y="1097280"/>
            <a:ext cx="822960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400"/>
              <a:buFont typeface="Calibri"/>
              <a:buNone/>
            </a:pPr>
            <a:r>
              <a:rPr b="1" lang="en-US" sz="24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What does s[1:4][::-1] return for s = 'hello world'?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0" name="Google Shape;770;p47"/>
          <p:cNvSpPr/>
          <p:nvPr/>
        </p:nvSpPr>
        <p:spPr>
          <a:xfrm>
            <a:off x="457200" y="25146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E91E6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1" name="Google Shape;771;p47"/>
          <p:cNvSpPr/>
          <p:nvPr/>
        </p:nvSpPr>
        <p:spPr>
          <a:xfrm>
            <a:off x="594360" y="2679192"/>
            <a:ext cx="457200" cy="457200"/>
          </a:xfrm>
          <a:prstGeom prst="ellipse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2" name="Google Shape;772;p47"/>
          <p:cNvSpPr/>
          <p:nvPr/>
        </p:nvSpPr>
        <p:spPr>
          <a:xfrm>
            <a:off x="594360" y="26791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3" name="Google Shape;773;p47"/>
          <p:cNvSpPr/>
          <p:nvPr/>
        </p:nvSpPr>
        <p:spPr>
          <a:xfrm>
            <a:off x="1188720" y="25146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'lle'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47"/>
          <p:cNvSpPr/>
          <p:nvPr/>
        </p:nvSpPr>
        <p:spPr>
          <a:xfrm>
            <a:off x="4754880" y="251460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00BC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5" name="Google Shape;775;p47"/>
          <p:cNvSpPr/>
          <p:nvPr/>
        </p:nvSpPr>
        <p:spPr>
          <a:xfrm>
            <a:off x="4892040" y="2679192"/>
            <a:ext cx="457200" cy="457200"/>
          </a:xfrm>
          <a:prstGeom prst="ellipse">
            <a:avLst/>
          </a:prstGeom>
          <a:solidFill>
            <a:srgbClr val="00BCD4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6" name="Google Shape;776;p47"/>
          <p:cNvSpPr/>
          <p:nvPr/>
        </p:nvSpPr>
        <p:spPr>
          <a:xfrm>
            <a:off x="4892040" y="26791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7" name="Google Shape;777;p47"/>
          <p:cNvSpPr/>
          <p:nvPr/>
        </p:nvSpPr>
        <p:spPr>
          <a:xfrm>
            <a:off x="5486400" y="251460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'ell'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8" name="Google Shape;778;p47"/>
          <p:cNvSpPr/>
          <p:nvPr/>
        </p:nvSpPr>
        <p:spPr>
          <a:xfrm>
            <a:off x="457200" y="33832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7C3AE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9" name="Google Shape;779;p47"/>
          <p:cNvSpPr/>
          <p:nvPr/>
        </p:nvSpPr>
        <p:spPr>
          <a:xfrm>
            <a:off x="594360" y="354787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0" name="Google Shape;780;p47"/>
          <p:cNvSpPr/>
          <p:nvPr/>
        </p:nvSpPr>
        <p:spPr>
          <a:xfrm>
            <a:off x="594360" y="35478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1" name="Google Shape;781;p47"/>
          <p:cNvSpPr/>
          <p:nvPr/>
        </p:nvSpPr>
        <p:spPr>
          <a:xfrm>
            <a:off x="1188720" y="33832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'dlrow'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2" name="Google Shape;782;p47"/>
          <p:cNvSpPr/>
          <p:nvPr/>
        </p:nvSpPr>
        <p:spPr>
          <a:xfrm>
            <a:off x="4754880" y="3383280"/>
            <a:ext cx="4023360" cy="777240"/>
          </a:xfrm>
          <a:prstGeom prst="roundRect">
            <a:avLst>
              <a:gd fmla="val 11765" name="adj"/>
            </a:avLst>
          </a:prstGeom>
          <a:solidFill>
            <a:srgbClr val="FAF5FF"/>
          </a:solidFill>
          <a:ln cap="flat" cmpd="sng" w="254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3" name="Google Shape;783;p47"/>
          <p:cNvSpPr/>
          <p:nvPr/>
        </p:nvSpPr>
        <p:spPr>
          <a:xfrm>
            <a:off x="4892040" y="3547872"/>
            <a:ext cx="457200" cy="457200"/>
          </a:xfrm>
          <a:prstGeom prst="ellipse">
            <a:avLst/>
          </a:prstGeom>
          <a:solidFill>
            <a:srgbClr val="F97316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47"/>
          <p:cNvSpPr/>
          <p:nvPr/>
        </p:nvSpPr>
        <p:spPr>
          <a:xfrm>
            <a:off x="4892040" y="354787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5" name="Google Shape;785;p47"/>
          <p:cNvSpPr/>
          <p:nvPr/>
        </p:nvSpPr>
        <p:spPr>
          <a:xfrm>
            <a:off x="5486400" y="3383280"/>
            <a:ext cx="3200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'olleh'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6" name="Google Shape;786;p47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100"/>
              <a:buFont typeface="Calibri"/>
              <a:buNone/>
            </a:pPr>
            <a:r>
              <a:rPr i="1" lang="en-US" sz="11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Hint: Two operations chained — slice first, then reverse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48"/>
          <p:cNvSpPr/>
          <p:nvPr/>
        </p:nvSpPr>
        <p:spPr>
          <a:xfrm>
            <a:off x="457200" y="411480"/>
            <a:ext cx="164592" cy="457200"/>
          </a:xfrm>
          <a:prstGeom prst="rect">
            <a:avLst/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3" name="Google Shape;793;p48"/>
          <p:cNvSpPr/>
          <p:nvPr/>
        </p:nvSpPr>
        <p:spPr>
          <a:xfrm>
            <a:off x="713232" y="365760"/>
            <a:ext cx="7955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2600"/>
              <a:buFont typeface="Calibri"/>
              <a:buNone/>
            </a:pPr>
            <a:r>
              <a:rPr b="1" lang="en-US" sz="2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Answer — Chained Operations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4" name="Google Shape;794;p48"/>
          <p:cNvSpPr/>
          <p:nvPr/>
        </p:nvSpPr>
        <p:spPr>
          <a:xfrm>
            <a:off x="713232" y="868680"/>
            <a:ext cx="7955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7280"/>
              </a:buClr>
              <a:buSzPts val="1200"/>
              <a:buFont typeface="Calibri"/>
              <a:buNone/>
            </a:pPr>
            <a:r>
              <a:rPr i="1" lang="en-US" sz="1200">
                <a:solidFill>
                  <a:srgbClr val="6B7280"/>
                </a:solidFill>
                <a:latin typeface="Calibri"/>
                <a:ea typeface="Calibri"/>
                <a:cs typeface="Calibri"/>
                <a:sym typeface="Calibri"/>
              </a:rPr>
              <a:t>Read left to right, one step at a time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48"/>
          <p:cNvSpPr/>
          <p:nvPr/>
        </p:nvSpPr>
        <p:spPr>
          <a:xfrm>
            <a:off x="457200" y="1463040"/>
            <a:ext cx="3931920" cy="2560320"/>
          </a:xfrm>
          <a:prstGeom prst="roundRect">
            <a:avLst>
              <a:gd fmla="val 5357" name="adj"/>
            </a:avLst>
          </a:prstGeom>
          <a:solidFill>
            <a:srgbClr val="E91E6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6" name="Google Shape;796;p48"/>
          <p:cNvSpPr/>
          <p:nvPr/>
        </p:nvSpPr>
        <p:spPr>
          <a:xfrm>
            <a:off x="457200" y="1554480"/>
            <a:ext cx="393192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Calibri"/>
              <a:buNone/>
            </a:pPr>
            <a:r>
              <a:rPr b="1" lang="en-US" sz="8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8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7" name="Google Shape;797;p48"/>
          <p:cNvSpPr/>
          <p:nvPr/>
        </p:nvSpPr>
        <p:spPr>
          <a:xfrm>
            <a:off x="457200" y="2743200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ourier New"/>
              <a:buNone/>
            </a:pPr>
            <a:r>
              <a:rPr b="1" lang="en-US" sz="3000">
                <a:solidFill>
                  <a:srgbClr val="FFFFFF"/>
                </a:solidFill>
                <a:latin typeface="Courier New"/>
                <a:ea typeface="Courier New"/>
                <a:cs typeface="Courier New"/>
                <a:sym typeface="Courier New"/>
              </a:rPr>
              <a:t>'lle'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8" name="Google Shape;798;p48"/>
          <p:cNvSpPr/>
          <p:nvPr/>
        </p:nvSpPr>
        <p:spPr>
          <a:xfrm>
            <a:off x="4663440" y="1463040"/>
            <a:ext cx="39319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F1B2E"/>
              </a:buClr>
              <a:buSzPts val="1600"/>
              <a:buFont typeface="Calibri"/>
              <a:buNone/>
            </a:pPr>
            <a:r>
              <a:rPr b="1" lang="en-US" sz="1600">
                <a:solidFill>
                  <a:srgbClr val="1F1B2E"/>
                </a:solidFill>
                <a:latin typeface="Calibri"/>
                <a:ea typeface="Calibri"/>
                <a:cs typeface="Calibri"/>
                <a:sym typeface="Calibri"/>
              </a:rPr>
              <a:t>Walk through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9" name="Google Shape;799;p48"/>
          <p:cNvSpPr/>
          <p:nvPr/>
        </p:nvSpPr>
        <p:spPr>
          <a:xfrm>
            <a:off x="4663440" y="1828800"/>
            <a:ext cx="3931920" cy="2468880"/>
          </a:xfrm>
          <a:prstGeom prst="roundRect">
            <a:avLst>
              <a:gd fmla="val 2963" name="adj"/>
            </a:avLst>
          </a:prstGeom>
          <a:solidFill>
            <a:srgbClr val="1E1E2E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0" name="Google Shape;800;p48"/>
          <p:cNvSpPr/>
          <p:nvPr/>
        </p:nvSpPr>
        <p:spPr>
          <a:xfrm>
            <a:off x="4800600" y="1920240"/>
            <a:ext cx="365760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200"/>
              <a:buFont typeface="Courier New"/>
              <a:buNone/>
            </a:pPr>
            <a:r>
              <a:rPr lang="en-US" sz="12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s = 'hello world'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BCD4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00BCD4"/>
                </a:solidFill>
                <a:latin typeface="Courier New"/>
                <a:ea typeface="Courier New"/>
                <a:cs typeface="Courier New"/>
                <a:sym typeface="Courier New"/>
              </a:rPr>
              <a:t>    01234567...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ourier New"/>
              <a:buNone/>
            </a:pPr>
            <a:r>
              <a:rPr lang="en-US" sz="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C107"/>
                </a:solidFill>
                <a:latin typeface="Courier New"/>
                <a:ea typeface="Courier New"/>
                <a:cs typeface="Courier New"/>
                <a:sym typeface="Courier New"/>
              </a:rPr>
              <a:t>Step 1: s[1:4]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→ 'ell' (chars at 1, 2, 3)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ourier New"/>
              <a:buNone/>
            </a:pPr>
            <a:r>
              <a:rPr lang="en-US" sz="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C107"/>
              </a:buClr>
              <a:buSzPts val="1200"/>
              <a:buFont typeface="Courier New"/>
              <a:buNone/>
            </a:pPr>
            <a:r>
              <a:rPr b="1" lang="en-US" sz="1200">
                <a:solidFill>
                  <a:srgbClr val="FFC107"/>
                </a:solidFill>
                <a:latin typeface="Courier New"/>
                <a:ea typeface="Courier New"/>
                <a:cs typeface="Courier New"/>
                <a:sym typeface="Courier New"/>
              </a:rPr>
              <a:t>Step 2: 'ell'[::-1]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8F8F2"/>
              </a:buClr>
              <a:buSzPts val="1100"/>
              <a:buFont typeface="Courier New"/>
              <a:buNone/>
            </a:pPr>
            <a:r>
              <a:rPr lang="en-US" sz="1100">
                <a:solidFill>
                  <a:srgbClr val="F8F8F2"/>
                </a:solidFill>
                <a:latin typeface="Courier New"/>
                <a:ea typeface="Courier New"/>
                <a:cs typeface="Courier New"/>
                <a:sym typeface="Courier New"/>
              </a:rPr>
              <a:t>  → 'lle' (reverse the slice)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ourier New"/>
              <a:buNone/>
            </a:pPr>
            <a:r>
              <a:rPr lang="en-US" sz="6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0B981"/>
              </a:buClr>
              <a:buSzPts val="1300"/>
              <a:buFont typeface="Courier New"/>
              <a:buNone/>
            </a:pPr>
            <a:r>
              <a:rPr b="1" lang="en-US" sz="1300">
                <a:solidFill>
                  <a:srgbClr val="10B981"/>
                </a:solidFill>
                <a:latin typeface="Courier New"/>
                <a:ea typeface="Courier New"/>
                <a:cs typeface="Courier New"/>
                <a:sym typeface="Courier New"/>
              </a:rPr>
              <a:t>Final: 'lle'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