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</p:sldIdLst>
  <p:sldSz cy="5143500" cx="9144000"/>
  <p:notesSz cx="5143500" cy="9144000"/>
  <p:embeddedFontLst>
    <p:embeddedFont>
      <p:font typeface="Inter SemiBold"/>
      <p:regular r:id="rId61"/>
      <p:bold r:id="rId62"/>
      <p:italic r:id="rId63"/>
      <p:boldItalic r:id="rId64"/>
    </p:embeddedFont>
    <p:embeddedFont>
      <p:font typeface="Inter"/>
      <p:bold r:id="rId65"/>
      <p:boldItalic r:id="rId66"/>
    </p:embeddedFont>
    <p:embeddedFont>
      <p:font typeface="Roboto Mono"/>
      <p:bold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InterSemiBold-bold.fntdata"/><Relationship Id="rId61" Type="http://schemas.openxmlformats.org/officeDocument/2006/relationships/font" Target="fonts/InterSemiBold-regular.fntdata"/><Relationship Id="rId20" Type="http://schemas.openxmlformats.org/officeDocument/2006/relationships/slide" Target="slides/slide16.xml"/><Relationship Id="rId64" Type="http://schemas.openxmlformats.org/officeDocument/2006/relationships/font" Target="fonts/InterSemiBold-boldItalic.fntdata"/><Relationship Id="rId63" Type="http://schemas.openxmlformats.org/officeDocument/2006/relationships/font" Target="fonts/InterSemiBold-italic.fntdata"/><Relationship Id="rId22" Type="http://schemas.openxmlformats.org/officeDocument/2006/relationships/slide" Target="slides/slide18.xml"/><Relationship Id="rId66" Type="http://schemas.openxmlformats.org/officeDocument/2006/relationships/font" Target="fonts/Inter-boldItalic.fntdata"/><Relationship Id="rId21" Type="http://schemas.openxmlformats.org/officeDocument/2006/relationships/slide" Target="slides/slide17.xml"/><Relationship Id="rId65" Type="http://schemas.openxmlformats.org/officeDocument/2006/relationships/font" Target="fonts/Inter-bold.fntdata"/><Relationship Id="rId24" Type="http://schemas.openxmlformats.org/officeDocument/2006/relationships/slide" Target="slides/slide20.xml"/><Relationship Id="rId68" Type="http://schemas.openxmlformats.org/officeDocument/2006/relationships/font" Target="fonts/RobotoMono-boldItalic.fntdata"/><Relationship Id="rId23" Type="http://schemas.openxmlformats.org/officeDocument/2006/relationships/slide" Target="slides/slide19.xml"/><Relationship Id="rId67" Type="http://schemas.openxmlformats.org/officeDocument/2006/relationships/font" Target="fonts/RobotoMono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e55751f4eb_1_11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e55751f4eb_1_11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e55751f4eb_1_15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e55751f4eb_1_15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55751f4eb_1_187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e55751f4eb_1_187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e55751f4eb_1_22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e55751f4eb_1_2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e55751f4eb_1_26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e55751f4eb_1_26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e55751f4eb_1_30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e55751f4eb_1_30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55751f4eb_1_339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e55751f4eb_1_33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2" name="Google Shape;752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2" name="Google Shape;762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7" name="Google Shape;787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2" name="Google Shape;802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7" name="Google Shape;827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5" name="Google Shape;845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0" name="Google Shape;870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4" name="Google Shape;884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9" name="Google Shape;909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e55751f4eb_1_18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e55751f4eb_1_1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e55751f4eb_1_63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e55751f4eb_1_63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e55751f4eb_1_91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3e55751f4eb_1_91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91E63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772400" y="3657600"/>
            <a:ext cx="3200400" cy="3200400"/>
          </a:xfrm>
          <a:prstGeom prst="ellipse">
            <a:avLst/>
          </a:prstGeom>
          <a:solidFill>
            <a:srgbClr val="00BCD4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0" y="-914400"/>
            <a:ext cx="2286000" cy="2286000"/>
          </a:xfrm>
          <a:prstGeom prst="ellipse">
            <a:avLst/>
          </a:prstGeom>
          <a:solidFill>
            <a:srgbClr val="FFC107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48640" y="457200"/>
            <a:ext cx="3291840" cy="411480"/>
          </a:xfrm>
          <a:prstGeom prst="roundRect">
            <a:avLst>
              <a:gd fmla="val 48889" name="adj"/>
            </a:avLst>
          </a:prstGeom>
          <a:solidFill>
            <a:srgbClr val="FFC1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48640" y="4572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DCS 404  ·  WEEK 1  ·  DAY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0058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0"/>
              <a:buFont typeface="Calibri"/>
              <a:buNone/>
            </a:pPr>
            <a:r>
              <a:rPr b="1" lang="en-US" sz="110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914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6517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Lists, Indexing &amp; Slicing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How Python stores collections of data — and grabs any piece of them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Today's Roadmap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we'll cover today, in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28016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28016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737360" y="128016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Recap of Day 1 + warm-up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66420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6420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737360" y="166420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 lists? Real-world examples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04825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04825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37360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Live coding: creating, indexing, slicing lists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243230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243230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37360" y="243230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 methods: append, insert, sort, remove, pop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2816352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81635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737360" y="2816352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Break — water, stretch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320040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20040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737360" y="320040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Pair lab: Class Roster Manager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358444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358444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737360" y="358444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Tuples, sets, and dictionaries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396849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396849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737360" y="396849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Tricky Python challenges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40" y="435254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435254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737360" y="435254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Recap and 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Warm-up: which line will Python complain about?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 = 'hello'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1st_score = 90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_secret = True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Variable names can't start with a digit — same as yesterday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Same Rule as Day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identifiers must start with a letter or underscore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1st_score = 90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SyntaxError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Quick reminder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63440" y="187452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Allowed:  x, name, _private, score3, my_var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91E6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Not allowed:  1st_score, 2pi, 9lives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Allowed but discouraged:  __dunder__ (Python uses these for special methods)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Why? Python parses code left to right. A digit at the start signals 'this is a number,' not a name.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— Python's Workhorse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If you'll work with data, you'll work with lists every single day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 Lists Matter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Almost every dataset starts as a list of something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Stock prices over time → list of floats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Names in a class → list of strings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Pixels in an image row → list of numbers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Tweets to analyze → list of strings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Sensor readings → list of dictionaries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Lists are the bridge between raw data and ML algorithms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Real Data Lives in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Examples from Nepal-flavored datasets you might actually work with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1325880"/>
            <a:ext cx="91440" cy="15544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Kathmandu AQI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85800" y="182880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77724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[145, 162, 138, 192, 178, ...]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Daily air quality readings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617720" y="132588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7720" y="1325880"/>
            <a:ext cx="91440" cy="1554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Class Names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846320" y="182880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93776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['Sita', 'Ramesh', 'Anita', ...]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Students enrolled this semester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Trekking Altitudes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85800" y="352044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777240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[1400, 2800, 4200, 5364]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EBC trek camp elevations (m)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617720" y="301752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617720" y="3017520"/>
            <a:ext cx="91440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Earthquake Magnitudes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846320" y="352044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937760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[4.2, 5.1, 3.8, 6.0, 4.5]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Recent tremors near Kathmandu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&amp; Accessing Lists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Square brackets are your friend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Creating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Lists hold any type, any mix, any length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Empty list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empty = []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 of numbers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 of strings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fruits = ["apple", "banana", "kiwi"]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Mixed types — Python doesn't mind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mixed = ["Sita", 21, True, 1.68]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Lists can hold lists (nested)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 = [[1, 2, 3],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[4, 5, 6],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[7, 8, 9]]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Length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print(len(scores))     #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print(len(matrix))     # 3 (rows)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Indexing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item has a position — index starts at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  [0]  [1]  [2]  [3]  [4]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  [-5] [-4] [-3] [-2] [-1]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Forward indexing (from the 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print(scores[0])      # 85 (first)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print(scores[2])      # 78 (third)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Negative indexing (from the 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print(scores[-1])     # 88 (last)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print(scores[-2])     # 95 (second-to-last)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Modify by index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scores[0] = 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print(scores)         # [90,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 out of range = IndexError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print(scores[10])     # IndexError!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 — How List Indexing Works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same item has TWO valid index numbers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7200" y="20574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Forward index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182880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182880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310896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10896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38912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38912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66928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66928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94944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94944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37160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137160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265176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265176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93192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93192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21208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21208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49224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49224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57200" y="3520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Backward index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178308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78308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06324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06324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34340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34340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62356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62356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90372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90372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scores[0]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1" lang="en-US" sz="14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scores[-5]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both give 85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scores[-1]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is the cleanest way to grab the last item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Slicing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syntax as strings: [start : stop : step]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[10, 20, 30, 40, 50, 60, 70]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[0]  [1]  [2]  [3]  [4]  [5]  [6]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Basic slicing — stop is EXCLUSIVE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print(nums[1:4])      # [20, 30, 40]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print(nums[:3])       # [10, 20, 30]    (from 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print(nums[3:])       # [40, 50, 60, 70] (to 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print(nums[-3:])      # [50, 60, 70]    (last 3)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With step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print(nums[::2])      # [10, 30, 50, 70] (every 2nd)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print(nums[1::2])     # [20, 40, 60]    (odd indices)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print(nums[::-1])     # [70, 60, 50, 40, 30, 20, 10] (reversed!)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Slicing returns a NEW list — original is safe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first_half = nums[:4]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first_half[0] = 999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print(nums[0])        # still 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does scores[1:-1] return for [10, 20, 30, 40, 50]?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[10, 20, 30, 40]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[20, 30, 40]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[20, 30, 40, 50]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[10, 50]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Slicing is exclusive on the right side — and -1 means 'last index'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Slicing Drops the Endpoints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[1:-1] means 'from index 1 up to but NOT including the last'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[20, 30, 40]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 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4663440" y="1828800"/>
            <a:ext cx="3931920" cy="1371600"/>
          </a:xfrm>
          <a:prstGeom prst="roundRect">
            <a:avLst>
              <a:gd fmla="val 5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800600" y="19202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[10, 20, 30, 40, 50]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0   1   2   3   4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         -5  -4  -3  -2  -1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scores[1 : -1]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start at 1 (=20), stop BEFORE -1 (=50)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4663440" y="33375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Index 1 included, index -1 excluded → [20, 30, 40]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Methods You'll Use Daily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Six methods cover 80% of real-world list 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Adding Items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ways to grow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append — add ONE item to the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grades.append(95)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insert — add at a specific 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grades.insert(0, 100)      # insert at index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[100, 85, 92, 78, 95]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extend — add multiple items from another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grades.extend([88, 91])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[100, 85, 92, 78, 95, 88, 91]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append adds one item. insert places it. extend adds many items at once.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append vs extend — Common Mistake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These look similar but behave very differently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Wrong way — using append with a list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nums.append([4, 5])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               # [1, 2, 3, [4, 5]]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Notice the nested list!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nums now has 4 items: 1, 2, 3, and the list [4, 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Right way — using extend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nums.extend([4, 5])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               # [1, 2, 3, 4, 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nums now has 5 items: 1, 2, 3, 4,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Quick rule: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.append(x)       adds x as ONE thing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.extend([a, b])  adds a, then b, separately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list1 + list2    creates a NEW combined list (no mutation)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Removing Items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ways to shrink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remove — by VALUE (removes first match)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grades.remove(78)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pop — by INDEX, returns the value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last = grades.pop()        # default: removes last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print(last)                # 88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 = grades.pop(0)      # remove at index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print(first)               # 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del — Python keyword, no return value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del grades[1]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clear — empty the whole list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grades.clear()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Sorting &amp; Reversing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ways to order a list — pay attention to the difference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IN PLACE (changes the original)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grades.sort()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[78, 85, 88,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grades.sort(reverse=True)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[95, 92, 88, 85,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and return a NEW list (original unchanged)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new_list = sorted(grades)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print(new_list)            # [78, 85, 88,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95, 88]  unchanged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Reverse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grades.reverse()           # in place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[78, 92, 85]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Or use slicing — returns a new list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new = grades[::-1]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print(new)                 # [85, 92,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Useful Built-ins — Numbers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Functions that summarize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Math summaries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print(len(grades))           # 5  (count)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print(sum(grades))           # 438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print(max(grades))           # 95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print(min(grades))           # 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print(f"Average: {avg:.1f}") # Average: 87.6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Membership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print(95 in grades)          # True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print(100 in grades)         # False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len, sum, max, min, in — these five cover most data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Useful Built-ins — Search &amp; Convert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Find items, count them, convert other types to lists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Count occurrences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data = [1, 2, 2, 3, 2,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print(data.count(2))         #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Find an index (first match)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print(grades.index(92))      #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index() raises ValueError if not found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Always check with 'in' first if unsure: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if 100 in grades: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print(grades.index(100))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print("Not found")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Convert other things to lists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print(list("hello"))         # ['h', 'e', 'l', 'l', 'o']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print(list(range(5)))        # [0, 1, 2, 3,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print(list(range(2, 10, 2))) # [2, 4, 6, 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print?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 = [3, 1, 4, 1, 5]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nums.sort()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print(nums.index(4))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After sorting, where does 4 land?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Sort Then Find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Order matters — sort changes the indices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4663440" y="1828800"/>
            <a:ext cx="3931920" cy="2286000"/>
          </a:xfrm>
          <a:prstGeom prst="roundRect">
            <a:avLst>
              <a:gd fmla="val 320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/>
          <p:nvPr/>
        </p:nvSpPr>
        <p:spPr>
          <a:xfrm>
            <a:off x="4800600" y="19202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Before sort: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[3, 1, 4, 1, 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0  1  2  3  4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After sort():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[1, 1, 3, 4, 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 0  1  2  3  4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4 is at index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 Lab — Class Roster Manager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Build a tiny gradebook using everything we've covered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HANDS-ON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548640" y="548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Roster Manager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7589520" y="365760"/>
            <a:ext cx="1097280" cy="457200"/>
          </a:xfrm>
          <a:prstGeom prst="roundRect">
            <a:avLst>
              <a:gd fmla="val 16000" name="adj"/>
            </a:avLst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7589520" y="3657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35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Group of 3. One driver, two navigators. Switch every 5 minutes.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640080" y="192024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Start with a list of 5 student names and a parallel list of 5 grades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Add a new student with append() — name goes in names, grade goes in grades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Find the highest grade using max() — print the corresponding student's name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Sort grades in descending order — print the top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Calculate the class average using sum() and len()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Bonus: print every student whose grade is above the average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Whichever team finishes first demos to the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Class Roster — Solution Part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Setup, add a student, find the top scorer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Setup — parallel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  = ["Sita", "Ramesh", "Anita", "Bikash", "Priya"]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2: add a new student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names.append("Sunil")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grades.append(91)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print(names)               # ['Sita', 'Ramesh', ..., 'Sunil']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95, 88, 91]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3: find the highest scorer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top_grade = max(grades)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top_index = grades.index(top_grade)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top_name  = names[top_index]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print(f"Top student: {top_name} with {top_grade}")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Top student: Bikash with 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Parallel lists: same index = same student. Use one list's index in another.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Class Roster — Solution Part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Top 3, average, bonus filter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4: sort grades in descending order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sorted_grades = sorted(grades, reverse=True)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top_3 = sorted_grades[:3]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print(f"Top 3 grades: {top_3}")    # [95, 92, 91]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5: class average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print(f"Class average: {avg:.2f}")  # 88.17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Bonus: above-average students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print("Above average students:")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range(len(names)):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if grades[i] &gt; avg: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  {names[i]}: {grades[i]}")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Sita: 85 — NOT shown (below avg)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Ramesh: 92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Bikash: 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Sunil: 91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 Cleaner Way — zip()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Pair two lists together — much more Pythonic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  = ["Sita", "Ramesh", "Anita", "Bikash", "Priya"]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zip pairs them up — like a zipper closing two sides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name, grade in zip(names, grades):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print(f"{name}: {grade}")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Sita: 85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Ramesh: 92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Anita: 78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Find above-average students cleanly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above = [name for name, grade in zip(names, grades) if grade &gt; avg]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print(above)          # ['Ramesh', 'Bikash']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students by grade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pairs = sorted(zip(grades, names), reverse=True)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print(pairs[:3])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[(95, 'Bikash'), (92, 'Ramesh'), (88, 'Priya')]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Lists — Tuples, Sets, Dicts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Lists aren't always the right tool for the job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Pick Your Container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is best at one 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45720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59436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59436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Duplicates OK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[1, 2,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226314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58318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27203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272034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272034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Fixed forever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Duplicates OK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(lat, lng)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438912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470916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484632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484632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484632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duplicates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{1, 2, 3}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651510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683514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69723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697230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697230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Key→Value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lookup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keys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{'name': 'Sita'}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 — Lists That Don't Change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 when data should NEVER be modified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Tuples use parentheses (or just commas)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 = (27.7172, 85.3240)   # Kathmandu coordinates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rgb = (255, 100, 50)            # color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single = (42,)                  # need the comma!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 and slice — same as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print(location[0])              # 27.7172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print(rgb[1:])                  # (100, 50)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But you CANNOT change a tuple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location[0] = 28.0              # TypeError!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Why use tuples?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Faster than lists (Python optimizes)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Safe — won't change by accident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Can be used as dict keys (lists cannot)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Coordinates, dates, RGB colors, dimensions — anything that's a fixed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 — Unpacking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of Python's most loved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Tuple unpacking — assign multiple at once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 = (27.7172, 85.3240)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lat, lng = location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print(lat)                      # 27.7172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print(lng)                      # 85.3240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Works on any iterable (lists too)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a, b, c = [1, 2, 3]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print(a, b, c)                  # 1 2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Functions can return multiple values via tuple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def stats(nums):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min(nums), max(nums)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lo, hi = stats([3, 7, 1, 9])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print(lo, hi)                   # 1 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Swap two variables in one line!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x, y = 10, 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x, y = y, x                     # Pythonic swap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print(x, y)                     # 20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— Unique Items Only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you only care about presence, not order or count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5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5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5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set with curly braces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 = {"python", "ai", "ml", "python"}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print(tags)                  # {'python', 'ai', 'ml'} — duplicate gone!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Add and remove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tags.add("colab")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tags.remove("ml")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print(tags)                  # {'python', 'ai', 'colab'}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Membership check — VERY fast (faster than list)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print("python" in tags)      # True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Common use: dedupe a list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duplicates = [1, 2, 2, 3, 3, 3, 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unique = list(set(duplicates))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print(unique)                # [1, 2, 3, 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5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5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5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dedupe automatically and check membership in O(1) — much faster than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— Math Operations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Set operations make some problems trivially easy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6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Roster of who attended each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week1 = {"Sita", "Ramesh", "Anita"}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week2 = {"Sita", "Bikash", "Priya"}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Union — everyone who attended either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|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{'Sita', 'Ramesh', 'Anita', 'Bikash', 'Priya'}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Intersection — both weeks (perfect attendance)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&amp;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{'Sita'}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Difference — only in week1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print(week1 -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{'Ramesh', 'Anita'}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Symmetric difference — in one but not both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^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{'Ramesh', 'Anita', 'Bikash', 'Priya'}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Dictionaries — Creating &amp; Accessing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Key-value pairs — the JSON of Python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Create with curly braces, key:value pairs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"Sita",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"age": 21,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"grades": [85, 92, 78],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"is_enrolled": True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Access by KEY (not index)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print(student["name"])          # Sita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print(student["grades"][0])     # 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Add or update — same syntax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student["email"] = "sita@uni.np"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student["age"] = 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Missing key — KeyError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print(student["phone"])         # KeyError!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Dictionaries — Safe Access &amp; Looping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Avoid KeyError and iterate cleanly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{"name": "Sita", "age": 22, "email": "sita@uni.np"}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Safe access with .get() — returns None or default if missing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print(student.get("phone"))           # None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print(student.get("phone", "N/A"))    # 'N/A' (default)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Check if a key exists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print("name" in student)              # True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print("phone" in student)             # False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Loop through keys (default)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key in student: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print(key)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Loop through key-value pairs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key, value in student.items():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print(f"{key}: {value}")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Just the values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print(list(student.values()))         # ['Sita', 22, 'sita@uni.np']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to Use What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quick decision guide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 — ordered data that may change (most common: rows of data, time series)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 — fixed group of values (coordinates, RGB, function returns)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 — unique items, fast membership checks (tags, IDs, dedupe)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 — labeled data, fast lookup by key (records, JSON, configs)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in doubt: start with a list, switch later if needed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0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0"/>
          <p:cNvSpPr txBox="1"/>
          <p:nvPr/>
        </p:nvSpPr>
        <p:spPr>
          <a:xfrm>
            <a:off x="713232" y="365760"/>
            <a:ext cx="79554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Directing Program Flow</a:t>
            </a:r>
            <a:endParaRPr b="1" sz="26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 txBox="1"/>
          <p:nvPr/>
        </p:nvSpPr>
        <p:spPr>
          <a:xfrm>
            <a:off x="713232" y="868680"/>
            <a:ext cx="79554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Conditional logic with if, elif, and else</a:t>
            </a:r>
            <a:endParaRPr b="0" i="1" sz="12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 txBox="1"/>
          <p:nvPr/>
        </p:nvSpPr>
        <p:spPr>
          <a:xfrm>
            <a:off x="457200" y="1333500"/>
            <a:ext cx="34290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Executes a block of code only if a specific condition evaluates to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13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The Structure: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Uses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(else if), and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to handle multiple branches of logic.</a:t>
            </a:r>
            <a:endParaRPr b="0" sz="13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Key Rule: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 Python relies strictly on </a:t>
            </a:r>
            <a:r>
              <a:rPr b="0" lang="en-US" sz="1300" u="sng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indentation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 (4 spaces) to define code blocks.</a:t>
            </a:r>
            <a:endParaRPr b="0" sz="1300">
              <a:solidFill>
                <a:srgbClr val="1F1B2E"/>
              </a:solidFill>
              <a:highlight>
                <a:srgbClr val="F3F4F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4114800" y="1333500"/>
            <a:ext cx="4572000" cy="3238500"/>
          </a:xfrm>
          <a:prstGeom prst="roundRect">
            <a:avLst>
              <a:gd fmla="val 3529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0"/>
          <p:cNvSpPr/>
          <p:nvPr/>
        </p:nvSpPr>
        <p:spPr>
          <a:xfrm>
            <a:off x="4297680" y="1472565"/>
            <a:ext cx="118800" cy="1188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0"/>
          <p:cNvSpPr/>
          <p:nvPr/>
        </p:nvSpPr>
        <p:spPr>
          <a:xfrm>
            <a:off x="4498848" y="1472565"/>
            <a:ext cx="118800" cy="1188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0"/>
          <p:cNvSpPr/>
          <p:nvPr/>
        </p:nvSpPr>
        <p:spPr>
          <a:xfrm>
            <a:off x="4700016" y="1472565"/>
            <a:ext cx="118800" cy="1188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0"/>
          <p:cNvSpPr txBox="1"/>
          <p:nvPr/>
        </p:nvSpPr>
        <p:spPr>
          <a:xfrm>
            <a:off x="5029200" y="1381125"/>
            <a:ext cx="1905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syntax_example.py</a:t>
            </a:r>
            <a:endParaRPr sz="9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3" name="Google Shape;643;p40"/>
          <p:cNvSpPr txBox="1"/>
          <p:nvPr/>
        </p:nvSpPr>
        <p:spPr>
          <a:xfrm>
            <a:off x="4305300" y="1809750"/>
            <a:ext cx="4191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score = 85</a:t>
            </a:r>
            <a:endParaRPr sz="1200">
              <a:solidFill>
                <a:srgbClr val="BD93F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score &gt;= </a:t>
            </a:r>
            <a:r>
              <a:rPr lang="en-US"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grade = </a:t>
            </a:r>
            <a:r>
              <a:rPr lang="en-US" sz="12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elif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score &gt;= </a:t>
            </a:r>
            <a:r>
              <a:rPr lang="en-US"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grade = </a:t>
            </a:r>
            <a:r>
              <a:rPr lang="en-US" sz="12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grade = </a:t>
            </a:r>
            <a:r>
              <a:rPr lang="en-US" sz="12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1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1"/>
          <p:cNvSpPr txBox="1"/>
          <p:nvPr/>
        </p:nvSpPr>
        <p:spPr>
          <a:xfrm>
            <a:off x="713232" y="365760"/>
            <a:ext cx="7955400" cy="54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Definite Iteration</a:t>
            </a:r>
            <a:endParaRPr b="1" sz="26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1"/>
          <p:cNvSpPr txBox="1"/>
          <p:nvPr/>
        </p:nvSpPr>
        <p:spPr>
          <a:xfrm>
            <a:off x="713232" y="868680"/>
            <a:ext cx="79554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Looping through collections with 'for'</a:t>
            </a:r>
            <a:endParaRPr b="0" i="1" sz="12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1"/>
          <p:cNvSpPr txBox="1"/>
          <p:nvPr/>
        </p:nvSpPr>
        <p:spPr>
          <a:xfrm>
            <a:off x="457200" y="1333500"/>
            <a:ext cx="34290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Step through items in any sequential collection (list, tuple, dict, or string).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How It Works: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Automatically stops at the end of the collection—no manual counter required.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Common Companion: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 The </a:t>
            </a:r>
            <a:r>
              <a:rPr b="1" lang="en-US" sz="1300">
                <a:solidFill>
                  <a:srgbClr val="188038"/>
                </a:solidFill>
                <a:highlight>
                  <a:srgbClr val="F3F4F6"/>
                </a:highlight>
                <a:latin typeface="Courier New"/>
                <a:ea typeface="Courier New"/>
                <a:cs typeface="Courier New"/>
                <a:sym typeface="Courier New"/>
              </a:rPr>
              <a:t>range()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 function is used to run a loop a specific number of times.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4114800" y="1333500"/>
            <a:ext cx="4572000" cy="3238500"/>
          </a:xfrm>
          <a:prstGeom prst="roundRect">
            <a:avLst>
              <a:gd fmla="val 3529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3" name="Google Shape;653;p41"/>
          <p:cNvGrpSpPr/>
          <p:nvPr/>
        </p:nvGrpSpPr>
        <p:grpSpPr>
          <a:xfrm>
            <a:off x="4297680" y="1472565"/>
            <a:ext cx="520155" cy="118200"/>
            <a:chOff x="4297680" y="1472565"/>
            <a:chExt cx="520155" cy="118200"/>
          </a:xfrm>
        </p:grpSpPr>
        <p:sp>
          <p:nvSpPr>
            <p:cNvPr id="654" name="Google Shape;654;p41"/>
            <p:cNvSpPr/>
            <p:nvPr/>
          </p:nvSpPr>
          <p:spPr>
            <a:xfrm>
              <a:off x="4297680" y="1472565"/>
              <a:ext cx="118200" cy="118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4498658" y="1472565"/>
              <a:ext cx="118200" cy="118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4699635" y="1472565"/>
              <a:ext cx="118200" cy="118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7" name="Google Shape;657;p41"/>
          <p:cNvSpPr txBox="1"/>
          <p:nvPr/>
        </p:nvSpPr>
        <p:spPr>
          <a:xfrm>
            <a:off x="5029200" y="1381125"/>
            <a:ext cx="190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for_loop_example.py</a:t>
            </a:r>
            <a:endParaRPr sz="9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41"/>
          <p:cNvSpPr txBox="1"/>
          <p:nvPr/>
        </p:nvSpPr>
        <p:spPr>
          <a:xfrm>
            <a:off x="4305300" y="1809750"/>
            <a:ext cx="4191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rPr>
              <a:t>fruits = ["apple", "banana", "cherry"]</a:t>
            </a:r>
            <a:endParaRPr sz="1200">
              <a:solidFill>
                <a:srgbClr val="BD93F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fruit </a:t>
            </a:r>
            <a:r>
              <a:rPr lang="en-US" sz="1200">
                <a:solidFill>
                  <a:srgbClr val="FF79C6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fruits: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print(</a:t>
            </a:r>
            <a:r>
              <a:rPr lang="en-US" sz="1200">
                <a:solidFill>
                  <a:srgbClr val="F1FA8C"/>
                </a:solidFill>
                <a:latin typeface="Courier New"/>
                <a:ea typeface="Courier New"/>
                <a:cs typeface="Courier New"/>
                <a:sym typeface="Courier New"/>
              </a:rPr>
              <a:t>f"I love eating {fruit}s"</a:t>
            </a: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Output:</a:t>
            </a:r>
            <a:endParaRPr sz="12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I love eating apples</a:t>
            </a:r>
            <a:endParaRPr sz="12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I love eating bananas</a:t>
            </a:r>
            <a:endParaRPr sz="12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I love eating cherrys</a:t>
            </a:r>
            <a:endParaRPr sz="12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2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4" name="Google Shape;664;p42"/>
          <p:cNvGrpSpPr/>
          <p:nvPr/>
        </p:nvGrpSpPr>
        <p:grpSpPr>
          <a:xfrm>
            <a:off x="713232" y="365760"/>
            <a:ext cx="7955400" cy="777120"/>
            <a:chOff x="713232" y="365760"/>
            <a:chExt cx="7955400" cy="777120"/>
          </a:xfrm>
        </p:grpSpPr>
        <p:sp>
          <p:nvSpPr>
            <p:cNvPr id="665" name="Google Shape;665;p42"/>
            <p:cNvSpPr txBox="1"/>
            <p:nvPr/>
          </p:nvSpPr>
          <p:spPr>
            <a:xfrm>
              <a:off x="713232" y="365760"/>
              <a:ext cx="79554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We are terrorist</a:t>
              </a:r>
              <a:endParaRPr b="1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2"/>
            <p:cNvSpPr txBox="1"/>
            <p:nvPr/>
          </p:nvSpPr>
          <p:spPr>
            <a:xfrm>
              <a:off x="713232" y="868680"/>
              <a:ext cx="7955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Repeating code with 'while' loops</a:t>
              </a:r>
              <a:endParaRPr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7" name="Google Shape;667;p42"/>
          <p:cNvSpPr txBox="1"/>
          <p:nvPr/>
        </p:nvSpPr>
        <p:spPr>
          <a:xfrm>
            <a:off x="457200" y="1333500"/>
            <a:ext cx="3429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Repeats a block of code as long as a specified condition remains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Best Used When: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You don't know in advance how many times the loop needs to run (e.g., waiting for user input).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Critical Danger: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 Forgetting to update the variable creates an </a:t>
            </a: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infinite loop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8" name="Google Shape;668;p42"/>
          <p:cNvGrpSpPr/>
          <p:nvPr/>
        </p:nvGrpSpPr>
        <p:grpSpPr>
          <a:xfrm>
            <a:off x="4114800" y="1333500"/>
            <a:ext cx="4572000" cy="3238500"/>
            <a:chOff x="4114800" y="1333500"/>
            <a:chExt cx="4572000" cy="3238500"/>
          </a:xfrm>
        </p:grpSpPr>
        <p:sp>
          <p:nvSpPr>
            <p:cNvPr id="669" name="Google Shape;669;p42"/>
            <p:cNvSpPr/>
            <p:nvPr/>
          </p:nvSpPr>
          <p:spPr>
            <a:xfrm>
              <a:off x="4114800" y="133350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42"/>
            <p:cNvSpPr/>
            <p:nvPr/>
          </p:nvSpPr>
          <p:spPr>
            <a:xfrm>
              <a:off x="4297680" y="1472565"/>
              <a:ext cx="118200" cy="118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42"/>
            <p:cNvSpPr/>
            <p:nvPr/>
          </p:nvSpPr>
          <p:spPr>
            <a:xfrm>
              <a:off x="4498658" y="1472565"/>
              <a:ext cx="118200" cy="118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42"/>
            <p:cNvSpPr/>
            <p:nvPr/>
          </p:nvSpPr>
          <p:spPr>
            <a:xfrm>
              <a:off x="4699635" y="1472565"/>
              <a:ext cx="118200" cy="118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42"/>
            <p:cNvSpPr txBox="1"/>
            <p:nvPr/>
          </p:nvSpPr>
          <p:spPr>
            <a:xfrm>
              <a:off x="5029200" y="1381125"/>
              <a:ext cx="1905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while_loop_example.py</a:t>
              </a:r>
              <a:endParaRPr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74" name="Google Shape;674;p42"/>
            <p:cNvSpPr txBox="1"/>
            <p:nvPr/>
          </p:nvSpPr>
          <p:spPr>
            <a:xfrm>
              <a:off x="4305300" y="1809750"/>
              <a:ext cx="41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BD93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countdown = 3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79C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while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countdown &gt; </a:t>
              </a:r>
              <a:r>
                <a:rPr lang="en-US" sz="1200">
                  <a:solidFill>
                    <a:srgbClr val="BD93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print(countdown)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countdown -= </a:t>
              </a:r>
              <a:r>
                <a:rPr lang="en-US" sz="1200">
                  <a:solidFill>
                    <a:srgbClr val="BD93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# Updates condition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</a:t>
              </a:r>
              <a:r>
                <a:rPr lang="en-US" sz="1200">
                  <a:solidFill>
                    <a:srgbClr val="F1FA8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"Blast off!"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3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0" name="Google Shape;680;p43"/>
          <p:cNvGrpSpPr/>
          <p:nvPr/>
        </p:nvGrpSpPr>
        <p:grpSpPr>
          <a:xfrm>
            <a:off x="713232" y="365760"/>
            <a:ext cx="7955400" cy="777120"/>
            <a:chOff x="713232" y="365760"/>
            <a:chExt cx="7955400" cy="777120"/>
          </a:xfrm>
        </p:grpSpPr>
        <p:sp>
          <p:nvSpPr>
            <p:cNvPr id="681" name="Google Shape;681;p43"/>
            <p:cNvSpPr txBox="1"/>
            <p:nvPr/>
          </p:nvSpPr>
          <p:spPr>
            <a:xfrm>
              <a:off x="713232" y="365760"/>
              <a:ext cx="79554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Tracking Positions During Iteration</a:t>
              </a:r>
              <a:endParaRPr b="1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43"/>
            <p:cNvSpPr txBox="1"/>
            <p:nvPr/>
          </p:nvSpPr>
          <p:spPr>
            <a:xfrm>
              <a:off x="713232" y="868680"/>
              <a:ext cx="7955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Efficiently indexing items with enumerate()</a:t>
              </a:r>
              <a:endParaRPr b="0"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3" name="Google Shape;683;p43"/>
          <p:cNvSpPr txBox="1"/>
          <p:nvPr/>
        </p:nvSpPr>
        <p:spPr>
          <a:xfrm>
            <a:off x="457200" y="1333500"/>
            <a:ext cx="3429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Access both the item and its index position simultaneously while looping.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The Pythonic Way: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Instead of a manual counter, use the built-in </a:t>
            </a:r>
            <a:r>
              <a:rPr b="1" lang="en-US" sz="1300">
                <a:solidFill>
                  <a:srgbClr val="188038"/>
                </a:solidFill>
                <a:latin typeface="Courier New"/>
                <a:ea typeface="Courier New"/>
                <a:cs typeface="Courier New"/>
                <a:sym typeface="Courier New"/>
              </a:rPr>
              <a:t>enumerate()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function.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Benefit: </a:t>
            </a:r>
            <a:r>
              <a:rPr b="0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Keeps code clean, highly readable, and prevents off-by-one errors.</a:t>
            </a:r>
            <a:endParaRPr b="1" sz="1300">
              <a:solidFill>
                <a:srgbClr val="E91E63"/>
              </a:solidFill>
              <a:highlight>
                <a:srgbClr val="F3F4F6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4" name="Google Shape;684;p43"/>
          <p:cNvGrpSpPr/>
          <p:nvPr/>
        </p:nvGrpSpPr>
        <p:grpSpPr>
          <a:xfrm>
            <a:off x="4114800" y="1333500"/>
            <a:ext cx="4572000" cy="3238500"/>
            <a:chOff x="4114800" y="1333500"/>
            <a:chExt cx="4572000" cy="3238500"/>
          </a:xfrm>
        </p:grpSpPr>
        <p:sp>
          <p:nvSpPr>
            <p:cNvPr id="685" name="Google Shape;685;p43"/>
            <p:cNvSpPr/>
            <p:nvPr/>
          </p:nvSpPr>
          <p:spPr>
            <a:xfrm>
              <a:off x="4114800" y="133350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3"/>
            <p:cNvSpPr/>
            <p:nvPr/>
          </p:nvSpPr>
          <p:spPr>
            <a:xfrm>
              <a:off x="4297680" y="1472565"/>
              <a:ext cx="118200" cy="118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3"/>
            <p:cNvSpPr/>
            <p:nvPr/>
          </p:nvSpPr>
          <p:spPr>
            <a:xfrm>
              <a:off x="4498658" y="1472565"/>
              <a:ext cx="118200" cy="118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3"/>
            <p:cNvSpPr/>
            <p:nvPr/>
          </p:nvSpPr>
          <p:spPr>
            <a:xfrm>
              <a:off x="4699635" y="1472565"/>
              <a:ext cx="118200" cy="118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3"/>
            <p:cNvSpPr txBox="1"/>
            <p:nvPr/>
          </p:nvSpPr>
          <p:spPr>
            <a:xfrm>
              <a:off x="5029200" y="1381125"/>
              <a:ext cx="1905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enumerate_example.py</a:t>
              </a:r>
              <a:endParaRPr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90" name="Google Shape;690;p43"/>
            <p:cNvSpPr txBox="1"/>
            <p:nvPr/>
          </p:nvSpPr>
          <p:spPr>
            <a:xfrm>
              <a:off x="4305300" y="1809750"/>
              <a:ext cx="41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runners = [</a:t>
              </a:r>
              <a:r>
                <a:rPr lang="en-US" sz="1200">
                  <a:solidFill>
                    <a:srgbClr val="F1FA8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"Alice"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1200">
                  <a:solidFill>
                    <a:srgbClr val="F1FA8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"Bob"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 </a:t>
              </a:r>
              <a:r>
                <a:rPr lang="en-US" sz="1200">
                  <a:solidFill>
                    <a:srgbClr val="F1FA8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"Charlie"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79C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index, name </a:t>
              </a:r>
              <a:r>
                <a:rPr lang="en-US" sz="1200">
                  <a:solidFill>
                    <a:srgbClr val="FF79C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enumerate(runners, start=</a:t>
              </a:r>
              <a:r>
                <a:rPr lang="en-US" sz="1200">
                  <a:solidFill>
                    <a:srgbClr val="BD93F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):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print(</a:t>
              </a:r>
              <a:r>
                <a:rPr lang="en-US" sz="1200">
                  <a:solidFill>
                    <a:srgbClr val="F1FA8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f"Place #{index}: {name}"</a:t>
              </a:r>
              <a:r>
                <a:rPr lang="en-US" sz="1200">
                  <a:solidFill>
                    <a:srgbClr val="F8F8F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200">
                <a:solidFill>
                  <a:srgbClr val="BD93F9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Output:</a:t>
              </a:r>
              <a:endParaRPr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Place #1: Alice</a:t>
              </a:r>
              <a:endParaRPr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Place #2: Bob</a:t>
              </a:r>
              <a:endParaRPr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272A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Place #3: Charlie</a:t>
              </a:r>
              <a:endParaRPr sz="12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4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6" name="Google Shape;696;p44"/>
          <p:cNvGrpSpPr/>
          <p:nvPr/>
        </p:nvGrpSpPr>
        <p:grpSpPr>
          <a:xfrm>
            <a:off x="713232" y="365760"/>
            <a:ext cx="7955400" cy="777120"/>
            <a:chOff x="713232" y="365760"/>
            <a:chExt cx="7955400" cy="777120"/>
          </a:xfrm>
        </p:grpSpPr>
        <p:sp>
          <p:nvSpPr>
            <p:cNvPr id="697" name="Google Shape;697;p44"/>
            <p:cNvSpPr txBox="1"/>
            <p:nvPr/>
          </p:nvSpPr>
          <p:spPr>
            <a:xfrm>
              <a:off x="713232" y="365760"/>
              <a:ext cx="79554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Inline List Creation</a:t>
              </a:r>
              <a:endParaRPr b="1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44"/>
            <p:cNvSpPr txBox="1"/>
            <p:nvPr/>
          </p:nvSpPr>
          <p:spPr>
            <a:xfrm>
              <a:off x="713232" y="868680"/>
              <a:ext cx="7955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Mastering Python's List Comprehension Syntax</a:t>
              </a:r>
              <a:endParaRPr b="0"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9" name="Google Shape;699;p44"/>
          <p:cNvSpPr txBox="1"/>
          <p:nvPr/>
        </p:nvSpPr>
        <p:spPr>
          <a:xfrm>
            <a:off x="457200" y="1333500"/>
            <a:ext cx="3429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 compact, one-line syntax to create a new list by modifying items from an existing collection.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Why Use It: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It replaces standard 3-to-4 line </a:t>
            </a:r>
            <a:r>
              <a:rPr b="1"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 loops, making code shorter and faster.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The Formula:</a:t>
            </a:r>
            <a:endParaRPr b="1" sz="1300">
              <a:solidFill>
                <a:srgbClr val="1F1B2E"/>
              </a:solidFill>
              <a:highlight>
                <a:srgbClr val="F3F4F6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88038"/>
                </a:solidFill>
                <a:highlight>
                  <a:srgbClr val="F3F4F6"/>
                </a:highlight>
                <a:latin typeface="Roboto Mono"/>
                <a:ea typeface="Roboto Mono"/>
                <a:cs typeface="Roboto Mono"/>
                <a:sym typeface="Roboto Mono"/>
              </a:rPr>
              <a:t>[expression for item in iterable]</a:t>
            </a:r>
            <a:endParaRPr b="1" sz="1100">
              <a:solidFill>
                <a:srgbClr val="188038"/>
              </a:solidFill>
              <a:highlight>
                <a:srgbClr val="F3F4F6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00" name="Google Shape;700;p44"/>
          <p:cNvGrpSpPr/>
          <p:nvPr/>
        </p:nvGrpSpPr>
        <p:grpSpPr>
          <a:xfrm>
            <a:off x="4114800" y="1333500"/>
            <a:ext cx="4572000" cy="3238500"/>
            <a:chOff x="4114800" y="1333500"/>
            <a:chExt cx="4572000" cy="3238500"/>
          </a:xfrm>
        </p:grpSpPr>
        <p:sp>
          <p:nvSpPr>
            <p:cNvPr id="701" name="Google Shape;701;p44"/>
            <p:cNvSpPr/>
            <p:nvPr/>
          </p:nvSpPr>
          <p:spPr>
            <a:xfrm>
              <a:off x="4114800" y="133350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44"/>
            <p:cNvSpPr/>
            <p:nvPr/>
          </p:nvSpPr>
          <p:spPr>
            <a:xfrm>
              <a:off x="4297680" y="1472565"/>
              <a:ext cx="118200" cy="118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44"/>
            <p:cNvSpPr/>
            <p:nvPr/>
          </p:nvSpPr>
          <p:spPr>
            <a:xfrm>
              <a:off x="4498658" y="1472565"/>
              <a:ext cx="118200" cy="118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44"/>
            <p:cNvSpPr/>
            <p:nvPr/>
          </p:nvSpPr>
          <p:spPr>
            <a:xfrm>
              <a:off x="4699635" y="1472565"/>
              <a:ext cx="118200" cy="118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44"/>
            <p:cNvSpPr txBox="1"/>
            <p:nvPr/>
          </p:nvSpPr>
          <p:spPr>
            <a:xfrm>
              <a:off x="5029200" y="1381125"/>
              <a:ext cx="1905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list_comprehension.py</a:t>
              </a:r>
              <a:endParaRPr sz="9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06" name="Google Shape;706;p44"/>
            <p:cNvSpPr txBox="1"/>
            <p:nvPr/>
          </p:nvSpPr>
          <p:spPr>
            <a:xfrm>
              <a:off x="4305300" y="1809750"/>
              <a:ext cx="41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Traditional Way</a:t>
              </a:r>
              <a:endParaRPr sz="11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squares = []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x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range(</a:t>
              </a:r>
              <a:r>
                <a:rPr lang="en-US" sz="110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):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squares.append(x * x)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List Comprehension Way</a:t>
              </a:r>
              <a:endParaRPr sz="11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squares = [x * x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x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range(</a:t>
              </a:r>
              <a:r>
                <a:rPr lang="en-US" sz="110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5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)]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Result: [0, 1, 4, 9, 16]</a:t>
              </a:r>
              <a:endParaRPr sz="1100">
                <a:solidFill>
                  <a:srgbClr val="F1FA8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5"/>
          <p:cNvSpPr/>
          <p:nvPr/>
        </p:nvSpPr>
        <p:spPr>
          <a:xfrm>
            <a:off x="457200" y="41148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2" name="Google Shape;712;p45"/>
          <p:cNvGrpSpPr/>
          <p:nvPr/>
        </p:nvGrpSpPr>
        <p:grpSpPr>
          <a:xfrm>
            <a:off x="713232" y="365760"/>
            <a:ext cx="7955400" cy="777120"/>
            <a:chOff x="713232" y="365760"/>
            <a:chExt cx="7955400" cy="777120"/>
          </a:xfrm>
        </p:grpSpPr>
        <p:sp>
          <p:nvSpPr>
            <p:cNvPr id="713" name="Google Shape;713;p45"/>
            <p:cNvSpPr txBox="1"/>
            <p:nvPr/>
          </p:nvSpPr>
          <p:spPr>
            <a:xfrm>
              <a:off x="713232" y="365760"/>
              <a:ext cx="79554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Inline Filtering</a:t>
              </a:r>
              <a:endParaRPr b="1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45"/>
            <p:cNvSpPr txBox="1"/>
            <p:nvPr/>
          </p:nvSpPr>
          <p:spPr>
            <a:xfrm>
              <a:off x="713232" y="868680"/>
              <a:ext cx="79554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Refining collections with conditional list comprehensions</a:t>
              </a:r>
              <a:endParaRPr b="0"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5" name="Google Shape;715;p45"/>
          <p:cNvSpPr txBox="1"/>
          <p:nvPr/>
        </p:nvSpPr>
        <p:spPr>
          <a:xfrm>
            <a:off x="457200" y="1333500"/>
            <a:ext cx="3429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Core Purpose: </a:t>
            </a:r>
            <a:r>
              <a:rPr b="0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Filters items out of a collection during the creation of a new list. Only items meeting the condition are processed.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1B2E"/>
                </a:solidFill>
                <a:highlight>
                  <a:srgbClr val="F3F4F6"/>
                </a:highlight>
                <a:latin typeface="Calibri"/>
                <a:ea typeface="Calibri"/>
                <a:cs typeface="Calibri"/>
                <a:sym typeface="Calibri"/>
              </a:rPr>
              <a:t>The Formula: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88038"/>
                </a:solidFill>
                <a:highlight>
                  <a:srgbClr val="F3F4F6"/>
                </a:highlight>
                <a:latin typeface="Roboto Mono"/>
                <a:ea typeface="Roboto Mono"/>
                <a:cs typeface="Roboto Mono"/>
                <a:sym typeface="Roboto Mono"/>
              </a:rPr>
              <a:t>[expression for item in iterable if condition]</a:t>
            </a:r>
            <a:endParaRPr b="1" sz="1300">
              <a:solidFill>
                <a:srgbClr val="E91E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Pro-Tip:</a:t>
            </a:r>
            <a:endParaRPr b="1" sz="13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Keep these simple. If logic gets too complex, revert to a standard loop for better readability.</a:t>
            </a:r>
            <a:endParaRPr b="0" i="1" sz="1200">
              <a:solidFill>
                <a:srgbClr val="1F1B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6" name="Google Shape;716;p45"/>
          <p:cNvGrpSpPr/>
          <p:nvPr/>
        </p:nvGrpSpPr>
        <p:grpSpPr>
          <a:xfrm>
            <a:off x="4114800" y="1333500"/>
            <a:ext cx="4572000" cy="3238500"/>
            <a:chOff x="4114800" y="1333500"/>
            <a:chExt cx="4572000" cy="3238500"/>
          </a:xfrm>
        </p:grpSpPr>
        <p:sp>
          <p:nvSpPr>
            <p:cNvPr id="717" name="Google Shape;717;p45"/>
            <p:cNvSpPr/>
            <p:nvPr/>
          </p:nvSpPr>
          <p:spPr>
            <a:xfrm>
              <a:off x="4114800" y="1333500"/>
              <a:ext cx="4572000" cy="3238500"/>
            </a:xfrm>
            <a:prstGeom prst="roundRect">
              <a:avLst>
                <a:gd fmla="val 3529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45"/>
            <p:cNvSpPr/>
            <p:nvPr/>
          </p:nvSpPr>
          <p:spPr>
            <a:xfrm>
              <a:off x="4297680" y="1472565"/>
              <a:ext cx="118200" cy="1182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45"/>
            <p:cNvSpPr/>
            <p:nvPr/>
          </p:nvSpPr>
          <p:spPr>
            <a:xfrm>
              <a:off x="4498658" y="1472565"/>
              <a:ext cx="118200" cy="1182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45"/>
            <p:cNvSpPr/>
            <p:nvPr/>
          </p:nvSpPr>
          <p:spPr>
            <a:xfrm>
              <a:off x="4699635" y="1472565"/>
              <a:ext cx="118200" cy="1182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5"/>
            <p:cNvSpPr txBox="1"/>
            <p:nvPr/>
          </p:nvSpPr>
          <p:spPr>
            <a:xfrm>
              <a:off x="5029200" y="1381125"/>
              <a:ext cx="1905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inline_filtering.py</a:t>
              </a:r>
              <a:endParaRPr sz="9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22" name="Google Shape;722;p45"/>
            <p:cNvSpPr txBox="1"/>
            <p:nvPr/>
          </p:nvSpPr>
          <p:spPr>
            <a:xfrm>
              <a:off x="4305300" y="1809750"/>
              <a:ext cx="4191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Sample Data</a:t>
              </a:r>
              <a:endParaRPr sz="11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prices = [</a:t>
              </a:r>
              <a:r>
                <a:rPr lang="en-US" sz="110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10, 25, 40, 75, 100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Only keep prices &gt; 30</a:t>
              </a:r>
              <a:endParaRPr sz="11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expensive_prices = [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p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prices </a:t>
              </a:r>
              <a:r>
                <a:rPr lang="en-US" sz="110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p &gt; </a:t>
              </a:r>
              <a:r>
                <a:rPr lang="en-US" sz="110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30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sz="110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20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Result: [40, 75, 100]</a:t>
              </a:r>
              <a:endParaRPr sz="1100">
                <a:solidFill>
                  <a:srgbClr val="F1FA8C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6"/>
          <p:cNvSpPr/>
          <p:nvPr/>
        </p:nvSpPr>
        <p:spPr>
          <a:xfrm>
            <a:off x="457200" y="342900"/>
            <a:ext cx="164700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8" name="Google Shape;728;p46"/>
          <p:cNvGrpSpPr/>
          <p:nvPr/>
        </p:nvGrpSpPr>
        <p:grpSpPr>
          <a:xfrm>
            <a:off x="704850" y="285750"/>
            <a:ext cx="7982100" cy="809775"/>
            <a:chOff x="704850" y="285750"/>
            <a:chExt cx="7982100" cy="809775"/>
          </a:xfrm>
        </p:grpSpPr>
        <p:sp>
          <p:nvSpPr>
            <p:cNvPr id="729" name="Google Shape;729;p46"/>
            <p:cNvSpPr txBox="1"/>
            <p:nvPr/>
          </p:nvSpPr>
          <p:spPr>
            <a:xfrm>
              <a:off x="704850" y="285750"/>
              <a:ext cx="7982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List Comprehension: </a:t>
              </a:r>
              <a:r>
                <a:rPr b="1" lang="en-US" sz="2600">
                  <a:solidFill>
                    <a:srgbClr val="E91E63"/>
                  </a:solidFill>
                  <a:latin typeface="Calibri"/>
                  <a:ea typeface="Calibri"/>
                  <a:cs typeface="Calibri"/>
                  <a:sym typeface="Calibri"/>
                </a:rPr>
                <a:t>If-Else</a:t>
              </a:r>
              <a:r>
                <a:rPr b="1" lang="en-US" sz="2600">
                  <a:solidFill>
                    <a:srgbClr val="1F1B2E"/>
                  </a:solidFill>
                  <a:latin typeface="Calibri"/>
                  <a:ea typeface="Calibri"/>
                  <a:cs typeface="Calibri"/>
                  <a:sym typeface="Calibri"/>
                </a:rPr>
                <a:t> Syntax</a:t>
              </a:r>
              <a:endParaRPr b="1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6"/>
            <p:cNvSpPr txBox="1"/>
            <p:nvPr/>
          </p:nvSpPr>
          <p:spPr>
            <a:xfrm>
              <a:off x="704850" y="809625"/>
              <a:ext cx="7982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Transforming every item based on a condition</a:t>
              </a:r>
              <a:endParaRPr i="1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1" name="Google Shape;731;p46"/>
          <p:cNvGrpSpPr/>
          <p:nvPr/>
        </p:nvGrpSpPr>
        <p:grpSpPr>
          <a:xfrm>
            <a:off x="457200" y="1238250"/>
            <a:ext cx="8229600" cy="571500"/>
            <a:chOff x="457200" y="1238250"/>
            <a:chExt cx="8229600" cy="571500"/>
          </a:xfrm>
        </p:grpSpPr>
        <p:sp>
          <p:nvSpPr>
            <p:cNvPr id="732" name="Google Shape;732;p46"/>
            <p:cNvSpPr/>
            <p:nvPr/>
          </p:nvSpPr>
          <p:spPr>
            <a:xfrm>
              <a:off x="457200" y="1238250"/>
              <a:ext cx="8229600" cy="571500"/>
            </a:xfrm>
            <a:prstGeom prst="roundRect">
              <a:avLst>
                <a:gd fmla="val 13333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6"/>
            <p:cNvSpPr txBox="1"/>
            <p:nvPr/>
          </p:nvSpPr>
          <p:spPr>
            <a:xfrm>
              <a:off x="647700" y="1238250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[value_if_true </a:t>
              </a:r>
              <a:r>
                <a:rPr b="1" lang="en-US" sz="1400">
                  <a:solidFill>
                    <a:srgbClr val="1F1B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b="1" lang="en-US" sz="14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condition </a:t>
              </a:r>
              <a:r>
                <a:rPr b="1" lang="en-US" sz="1400">
                  <a:solidFill>
                    <a:srgbClr val="1F1B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b="1" lang="en-US" sz="14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value_if_false </a:t>
              </a:r>
              <a:r>
                <a:rPr b="1" lang="en-US" sz="1400">
                  <a:solidFill>
                    <a:srgbClr val="1F1B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b="1" lang="en-US" sz="14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item </a:t>
              </a:r>
              <a:r>
                <a:rPr b="1" lang="en-US" sz="1400">
                  <a:solidFill>
                    <a:srgbClr val="1F1B2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b="1" lang="en-US" sz="14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iterable]</a:t>
              </a:r>
              <a:endParaRPr b="1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734" name="Google Shape;734;p46"/>
          <p:cNvGrpSpPr/>
          <p:nvPr/>
        </p:nvGrpSpPr>
        <p:grpSpPr>
          <a:xfrm>
            <a:off x="457200" y="1952625"/>
            <a:ext cx="8229750" cy="2190900"/>
            <a:chOff x="457200" y="1952625"/>
            <a:chExt cx="8229750" cy="2190900"/>
          </a:xfrm>
        </p:grpSpPr>
        <p:sp>
          <p:nvSpPr>
            <p:cNvPr id="735" name="Google Shape;735;p46"/>
            <p:cNvSpPr/>
            <p:nvPr/>
          </p:nvSpPr>
          <p:spPr>
            <a:xfrm>
              <a:off x="457200" y="1952625"/>
              <a:ext cx="3905400" cy="2190900"/>
            </a:xfrm>
            <a:prstGeom prst="roundRect">
              <a:avLst>
                <a:gd fmla="val 5217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6"/>
            <p:cNvSpPr/>
            <p:nvPr/>
          </p:nvSpPr>
          <p:spPr>
            <a:xfrm>
              <a:off x="4781550" y="1952625"/>
              <a:ext cx="3905400" cy="2190900"/>
            </a:xfrm>
            <a:prstGeom prst="roundRect">
              <a:avLst>
                <a:gd fmla="val 5217" name="adj"/>
              </a:avLst>
            </a:prstGeom>
            <a:solidFill>
              <a:srgbClr val="1E1E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6"/>
            <p:cNvSpPr/>
            <p:nvPr/>
          </p:nvSpPr>
          <p:spPr>
            <a:xfrm>
              <a:off x="638175" y="2085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6"/>
            <p:cNvSpPr/>
            <p:nvPr/>
          </p:nvSpPr>
          <p:spPr>
            <a:xfrm>
              <a:off x="828675" y="2085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6"/>
            <p:cNvSpPr/>
            <p:nvPr/>
          </p:nvSpPr>
          <p:spPr>
            <a:xfrm>
              <a:off x="1019175" y="2085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6"/>
            <p:cNvSpPr/>
            <p:nvPr/>
          </p:nvSpPr>
          <p:spPr>
            <a:xfrm>
              <a:off x="4962525" y="2085975"/>
              <a:ext cx="114300" cy="11430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6"/>
            <p:cNvSpPr/>
            <p:nvPr/>
          </p:nvSpPr>
          <p:spPr>
            <a:xfrm>
              <a:off x="5153025" y="2085975"/>
              <a:ext cx="114300" cy="11430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6"/>
            <p:cNvSpPr/>
            <p:nvPr/>
          </p:nvSpPr>
          <p:spPr>
            <a:xfrm>
              <a:off x="5343525" y="2085975"/>
              <a:ext cx="114300" cy="11430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6"/>
            <p:cNvSpPr txBox="1"/>
            <p:nvPr/>
          </p:nvSpPr>
          <p:spPr>
            <a:xfrm>
              <a:off x="1285875" y="204787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traditional_way.py</a:t>
              </a:r>
              <a:endParaRPr sz="9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44" name="Google Shape;744;p46"/>
            <p:cNvSpPr txBox="1"/>
            <p:nvPr/>
          </p:nvSpPr>
          <p:spPr>
            <a:xfrm>
              <a:off x="5610225" y="2047875"/>
              <a:ext cx="285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list_comprehension.py</a:t>
              </a:r>
              <a:endParaRPr sz="900">
                <a:solidFill>
                  <a:srgbClr val="6272A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45" name="Google Shape;745;p46"/>
            <p:cNvSpPr txBox="1"/>
            <p:nvPr/>
          </p:nvSpPr>
          <p:spPr>
            <a:xfrm>
              <a:off x="647700" y="2381250"/>
              <a:ext cx="3524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4 lines of logic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 </a:t>
              </a: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scores: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 &gt;= </a:t>
              </a:r>
              <a:r>
                <a:rPr lang="en-US" sz="105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60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results.append(</a:t>
              </a:r>
              <a:r>
                <a:rPr lang="en-US" sz="105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"Pass"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: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results.append(</a:t>
              </a:r>
              <a:r>
                <a:rPr lang="en-US" sz="105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"Fail"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)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746" name="Google Shape;746;p46"/>
            <p:cNvSpPr txBox="1"/>
            <p:nvPr/>
          </p:nvSpPr>
          <p:spPr>
            <a:xfrm>
              <a:off x="4972050" y="2381250"/>
              <a:ext cx="3524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6272A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# 1 line transformation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results = [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"Pass"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 &gt;= </a:t>
              </a:r>
              <a:r>
                <a:rPr lang="en-US" sz="1050">
                  <a:solidFill>
                    <a:srgbClr val="BD93F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60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</a:t>
              </a:r>
              <a:r>
                <a:rPr lang="en-US" sz="1050">
                  <a:solidFill>
                    <a:srgbClr val="F1FA8C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"Fail"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for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 </a:t>
              </a:r>
              <a:r>
                <a:rPr lang="en-US" sz="1050">
                  <a:solidFill>
                    <a:srgbClr val="FF79C6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in</a:t>
              </a: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scores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8F8F2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]</a:t>
              </a:r>
              <a:endParaRPr sz="1050">
                <a:solidFill>
                  <a:srgbClr val="F8F8F2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grpSp>
        <p:nvGrpSpPr>
          <p:cNvPr id="747" name="Google Shape;747;p46"/>
          <p:cNvGrpSpPr/>
          <p:nvPr/>
        </p:nvGrpSpPr>
        <p:grpSpPr>
          <a:xfrm>
            <a:off x="457200" y="4286250"/>
            <a:ext cx="8229600" cy="619200"/>
            <a:chOff x="457200" y="4286250"/>
            <a:chExt cx="8229600" cy="619200"/>
          </a:xfrm>
        </p:grpSpPr>
        <p:sp>
          <p:nvSpPr>
            <p:cNvPr id="748" name="Google Shape;748;p46"/>
            <p:cNvSpPr/>
            <p:nvPr/>
          </p:nvSpPr>
          <p:spPr>
            <a:xfrm>
              <a:off x="457200" y="4286250"/>
              <a:ext cx="8229600" cy="619200"/>
            </a:xfrm>
            <a:prstGeom prst="roundRect">
              <a:avLst>
                <a:gd fmla="val 12307" name="adj"/>
              </a:avLst>
            </a:prstGeom>
            <a:solidFill>
              <a:srgbClr val="FFFBEB"/>
            </a:solidFill>
            <a:ln cap="flat" cmpd="sng" w="952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6"/>
            <p:cNvSpPr txBox="1"/>
            <p:nvPr/>
          </p:nvSpPr>
          <p:spPr>
            <a:xfrm>
              <a:off x="647700" y="4286250"/>
              <a:ext cx="78486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⚠️ Golden Rule:</a:t>
              </a:r>
              <a:r>
                <a:rPr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The position of </a:t>
              </a:r>
              <a:r>
                <a:rPr b="1" lang="en-US" sz="1100">
                  <a:solidFill>
                    <a:srgbClr val="92400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if</a:t>
              </a:r>
              <a:r>
                <a:rPr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depends on whether you use </a:t>
              </a:r>
              <a:r>
                <a:rPr b="1" lang="en-US" sz="1100">
                  <a:solidFill>
                    <a:srgbClr val="92400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. Filtering (no else) stays at the end; Transformation (with else) moves to the front. Putting </a:t>
              </a:r>
              <a:r>
                <a:rPr b="1" lang="en-US" sz="1100">
                  <a:solidFill>
                    <a:srgbClr val="92400E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else</a:t>
              </a:r>
              <a:r>
                <a:rPr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at the end causes a </a:t>
              </a:r>
              <a:r>
                <a:rPr b="1" lang="en-US" sz="1100">
                  <a:solidFill>
                    <a:srgbClr val="E11D48"/>
                  </a:solidFill>
                  <a:latin typeface="Calibri"/>
                  <a:ea typeface="Calibri"/>
                  <a:cs typeface="Calibri"/>
                  <a:sym typeface="Calibri"/>
                </a:rPr>
                <a:t>SyntaxError</a:t>
              </a:r>
              <a:r>
                <a:rPr lang="en-US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Tricky Python Challenges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5 puzzles that catch even experienced Python users off guard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8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48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8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print?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 = [1, 2, 3]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 = 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b.append(4)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8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8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8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8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2, 3]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8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8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8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8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2, 3, 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8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8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8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8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8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8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8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8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8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When you assign a list, do you get a copy or a reference?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Lists Are References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 = a doesn't copy the list — both names point to the SAME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9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9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9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[1, 2, 3, 4]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9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9"/>
          <p:cNvSpPr/>
          <p:nvPr/>
        </p:nvSpPr>
        <p:spPr>
          <a:xfrm>
            <a:off x="4663440" y="18288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 = a does NOT copy. Both labels point to the same list in memory.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Modifying through one name changes what the other sees.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 make a real copy: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9"/>
          <p:cNvSpPr/>
          <p:nvPr/>
        </p:nvSpPr>
        <p:spPr>
          <a:xfrm>
            <a:off x="4663440" y="324612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9"/>
          <p:cNvSpPr/>
          <p:nvPr/>
        </p:nvSpPr>
        <p:spPr>
          <a:xfrm>
            <a:off x="4800600" y="333756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a.copy()        # method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list(a)         # method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a[:]            # method 3 (slice trick)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0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0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0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give?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matrix = [[0] * 3] *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matrix[0][0] =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print(matrix)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0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0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0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0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0, 0], [0, 0, 0], [0,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0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0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0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0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0, 0], [1, 0, 0], [1,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0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0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50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0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50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0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0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0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1, 1], [0, 0, 0], [0,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0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* repeats — but does it repeat the values or the references?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The Reference Multiplication Trap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[[0] * 3] * 3 makes 3 references to the SAME inner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1"/>
          <p:cNvSpPr/>
          <p:nvPr/>
        </p:nvSpPr>
        <p:spPr>
          <a:xfrm>
            <a:off x="457200" y="1417320"/>
            <a:ext cx="3931920" cy="2606040"/>
          </a:xfrm>
          <a:prstGeom prst="roundRect">
            <a:avLst>
              <a:gd fmla="val 5263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1"/>
          <p:cNvSpPr/>
          <p:nvPr/>
        </p:nvSpPr>
        <p:spPr>
          <a:xfrm>
            <a:off x="457200" y="150876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Calibri"/>
              <a:buNone/>
            </a:pPr>
            <a:r>
              <a:rPr b="1" lang="en-US" sz="7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1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three rows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1"/>
          <p:cNvSpPr/>
          <p:nvPr/>
        </p:nvSpPr>
        <p:spPr>
          <a:xfrm>
            <a:off x="457200" y="288036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[[1, 0, 0],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[1, 0, 0],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[1,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1"/>
          <p:cNvSpPr/>
          <p:nvPr/>
        </p:nvSpPr>
        <p:spPr>
          <a:xfrm>
            <a:off x="4663440" y="14173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The fix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51"/>
          <p:cNvSpPr/>
          <p:nvPr/>
        </p:nvSpPr>
        <p:spPr>
          <a:xfrm>
            <a:off x="4663440" y="1783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 a list comprehension to create independent rows: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51"/>
          <p:cNvSpPr/>
          <p:nvPr/>
        </p:nvSpPr>
        <p:spPr>
          <a:xfrm>
            <a:off x="4663440" y="2194560"/>
            <a:ext cx="3931920" cy="1005840"/>
          </a:xfrm>
          <a:prstGeom prst="roundRect">
            <a:avLst>
              <a:gd fmla="val 727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51"/>
          <p:cNvSpPr/>
          <p:nvPr/>
        </p:nvSpPr>
        <p:spPr>
          <a:xfrm>
            <a:off x="4800600" y="22860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 = [[0] * 3 for _ in range(3)]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matrix[0][0] =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[[1, 0, 0], [0, 0, 0], [0, 0, 0]]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1"/>
          <p:cNvSpPr/>
          <p:nvPr/>
        </p:nvSpPr>
        <p:spPr>
          <a:xfrm>
            <a:off x="4663440" y="3291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iteration of the list comp creates a fresh inner list.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1"/>
          <p:cNvSpPr/>
          <p:nvPr/>
        </p:nvSpPr>
        <p:spPr>
          <a:xfrm>
            <a:off x="4663440" y="3657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This trap shows up daily in NumPy and TensorFlow code.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2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2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2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give?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 = [1, 2, 3, 4]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result = [x*2 for x in nums if x % 2 == 0]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print(result)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2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2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2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2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[2, 4, 6, 8]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2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2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52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52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[4, 8]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2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52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52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52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[2, 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2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2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2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2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4, 9, 16]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2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List comprehensions can have an if filter at the 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List Comprehension Power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Filter THEN transform, all in one 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3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53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53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[4, 8]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53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Step by step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53"/>
          <p:cNvSpPr/>
          <p:nvPr/>
        </p:nvSpPr>
        <p:spPr>
          <a:xfrm>
            <a:off x="4663440" y="1828800"/>
            <a:ext cx="3931920" cy="2560320"/>
          </a:xfrm>
          <a:prstGeom prst="roundRect">
            <a:avLst>
              <a:gd fmla="val 2857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53"/>
          <p:cNvSpPr/>
          <p:nvPr/>
        </p:nvSpPr>
        <p:spPr>
          <a:xfrm>
            <a:off x="4800600" y="192024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[x*2 for x in nums if x % 2 == 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1. Take each x in [1,2,3,4]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2. Keep only if x % 2 == 0 (even)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→ keeps 2,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3. Apply x*2 to each kept 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→ 2*2=4, 4*2=8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Result: [4, 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4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4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4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does s[1:4][::-1] return for s = 'hello world'?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4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4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4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4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'lle'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4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4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54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4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'ell'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54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54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54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'dlrow'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4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54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'olleh'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5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Two operations chained — slice first, then reverse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5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Chained Operations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 left to right, one step at a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5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5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'lle'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5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5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 = 'hello world'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   01234567...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Step 1: s[1:4]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→ 'ell' (chars at 1, 2, 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Step 2: 'ell'[::-1]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→ 'lle' (reverse the slice)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Final: 'lle'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56"/>
          <p:cNvSpPr/>
          <p:nvPr/>
        </p:nvSpPr>
        <p:spPr>
          <a:xfrm>
            <a:off x="381000" y="381000"/>
            <a:ext cx="8382000" cy="762000"/>
          </a:xfrm>
          <a:prstGeom prst="roundRect">
            <a:avLst>
              <a:gd fmla="val 15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6"/>
          <p:cNvSpPr txBox="1"/>
          <p:nvPr/>
        </p:nvSpPr>
        <p:spPr>
          <a:xfrm>
            <a:off x="381000" y="3810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857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Lab Exercise: Shipping Rate Calculator</a:t>
            </a:r>
            <a:endParaRPr b="1" sz="2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Google Shape;927;p56"/>
          <p:cNvSpPr/>
          <p:nvPr/>
        </p:nvSpPr>
        <p:spPr>
          <a:xfrm>
            <a:off x="381000" y="1333500"/>
            <a:ext cx="4095900" cy="32385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6"/>
          <p:cNvSpPr txBox="1"/>
          <p:nvPr/>
        </p:nvSpPr>
        <p:spPr>
          <a:xfrm>
            <a:off x="666750" y="1619250"/>
            <a:ext cx="3524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Scenario</a:t>
            </a:r>
            <a:endParaRPr b="1" sz="160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You are building a backend tool for a regional delivery service.</a:t>
            </a:r>
            <a:endParaRPr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company charges a flat base rate per package, plus a variable rate per pound based on destination zone.</a:t>
            </a:r>
            <a:endParaRPr sz="11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875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highlight>
                  <a:srgbClr val="F1F5F9"/>
                </a:highlight>
                <a:latin typeface="Inter SemiBold"/>
                <a:ea typeface="Inter SemiBold"/>
                <a:cs typeface="Inter SemiBold"/>
                <a:sym typeface="Inter SemiBold"/>
              </a:rPr>
              <a:t>Key Objective:</a:t>
            </a:r>
            <a:endParaRPr b="0" sz="1100">
              <a:solidFill>
                <a:srgbClr val="334155"/>
              </a:solidFill>
              <a:highlight>
                <a:srgbClr val="F1F5F9"/>
              </a:highlight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475569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rPr>
              <a:t>Use Python dictionaries to store rates and calculate total costs for batch orders.</a:t>
            </a:r>
            <a:endParaRPr sz="1000">
              <a:solidFill>
                <a:srgbClr val="475569"/>
              </a:solidFill>
              <a:highlight>
                <a:srgbClr val="F1F5F9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9" name="Google Shape;929;p56"/>
          <p:cNvSpPr/>
          <p:nvPr/>
        </p:nvSpPr>
        <p:spPr>
          <a:xfrm>
            <a:off x="4667250" y="1333500"/>
            <a:ext cx="4095900" cy="3238500"/>
          </a:xfrm>
          <a:prstGeom prst="roundRect">
            <a:avLst>
              <a:gd fmla="val 3529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56"/>
          <p:cNvSpPr txBox="1"/>
          <p:nvPr/>
        </p:nvSpPr>
        <p:spPr>
          <a:xfrm>
            <a:off x="4953000" y="1619250"/>
            <a:ext cx="3524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# Data Structure</a:t>
            </a:r>
            <a:endParaRPr b="1" sz="14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shipping_rates = {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'Zone A': (5.00, 0.75),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....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orders = [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{'order_id': 101, 'weight_lbs': 4.5, 'destination': 'Zone A'},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31" name="Google Shape;931;p56"/>
          <p:cNvGrpSpPr/>
          <p:nvPr/>
        </p:nvGrpSpPr>
        <p:grpSpPr>
          <a:xfrm>
            <a:off x="238125" y="1190625"/>
            <a:ext cx="285900" cy="285900"/>
            <a:chOff x="238125" y="1190625"/>
            <a:chExt cx="285900" cy="285900"/>
          </a:xfrm>
        </p:grpSpPr>
        <p:sp>
          <p:nvSpPr>
            <p:cNvPr id="932" name="Google Shape;932;p56"/>
            <p:cNvSpPr/>
            <p:nvPr/>
          </p:nvSpPr>
          <p:spPr>
            <a:xfrm>
              <a:off x="238125" y="1190625"/>
              <a:ext cx="285900" cy="2859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56"/>
            <p:cNvSpPr txBox="1"/>
            <p:nvPr/>
          </p:nvSpPr>
          <p:spPr>
            <a:xfrm>
              <a:off x="285750" y="1255776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</a:t>
              </a:r>
              <a:endParaRPr sz="1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934" name="Google Shape;934;p56"/>
          <p:cNvGrpSpPr/>
          <p:nvPr/>
        </p:nvGrpSpPr>
        <p:grpSpPr>
          <a:xfrm>
            <a:off x="4524375" y="1190625"/>
            <a:ext cx="285900" cy="285900"/>
            <a:chOff x="4524375" y="1190625"/>
            <a:chExt cx="285900" cy="285900"/>
          </a:xfrm>
        </p:grpSpPr>
        <p:sp>
          <p:nvSpPr>
            <p:cNvPr id="935" name="Google Shape;935;p56"/>
            <p:cNvSpPr/>
            <p:nvPr/>
          </p:nvSpPr>
          <p:spPr>
            <a:xfrm>
              <a:off x="4524375" y="1190625"/>
              <a:ext cx="285900" cy="285900"/>
            </a:xfrm>
            <a:prstGeom prst="ellipse">
              <a:avLst/>
            </a:prstGeom>
            <a:solidFill>
              <a:srgbClr val="00BCD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6"/>
            <p:cNvSpPr txBox="1"/>
            <p:nvPr/>
          </p:nvSpPr>
          <p:spPr>
            <a:xfrm>
              <a:off x="4572000" y="1255776"/>
              <a:ext cx="190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12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7"/>
          <p:cNvSpPr/>
          <p:nvPr/>
        </p:nvSpPr>
        <p:spPr>
          <a:xfrm>
            <a:off x="381000" y="285750"/>
            <a:ext cx="8382000" cy="666900"/>
          </a:xfrm>
          <a:prstGeom prst="roundRect">
            <a:avLst>
              <a:gd fmla="val 171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57"/>
          <p:cNvSpPr txBox="1"/>
          <p:nvPr/>
        </p:nvSpPr>
        <p:spPr>
          <a:xfrm>
            <a:off x="666750" y="285750"/>
            <a:ext cx="7810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Phase 1: The Setup</a:t>
            </a:r>
            <a:endParaRPr b="1" sz="2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57"/>
          <p:cNvSpPr txBox="1"/>
          <p:nvPr/>
        </p:nvSpPr>
        <p:spPr>
          <a:xfrm>
            <a:off x="381000" y="1095375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First, create your lookup data. In production, this data would come from a database, but a dictionary is the perfect data structure for instant lookups.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4" name="Google Shape;944;p57"/>
          <p:cNvSpPr/>
          <p:nvPr/>
        </p:nvSpPr>
        <p:spPr>
          <a:xfrm>
            <a:off x="381000" y="1714500"/>
            <a:ext cx="4095900" cy="3048000"/>
          </a:xfrm>
          <a:prstGeom prst="roundRect">
            <a:avLst>
              <a:gd fmla="val 375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57"/>
          <p:cNvSpPr txBox="1"/>
          <p:nvPr/>
        </p:nvSpPr>
        <p:spPr>
          <a:xfrm>
            <a:off x="571500" y="1905000"/>
            <a:ext cx="3714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# 1. Shipping Rates Lookup Table</a:t>
            </a:r>
            <a:endParaRPr b="1" sz="10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# 'Zone': (Base_Cost, Cost_Per_Lb)</a:t>
            </a:r>
            <a:endParaRPr b="0" sz="1000">
              <a:solidFill>
                <a:srgbClr val="94A3B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shipping_rates = {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'Zone A': (5.00, 0.75), </a:t>
            </a:r>
            <a:r>
              <a:rPr b="0" lang="en-US" sz="10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Local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'Zone B': (8.50, 1.20), </a:t>
            </a:r>
            <a:r>
              <a:rPr b="0" lang="en-US" sz="10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Regional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'Zone C': (12.00, 2.10),</a:t>
            </a:r>
            <a:r>
              <a:rPr b="0" lang="en-US" sz="10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National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'Zone D': (25.00, 4.50) </a:t>
            </a:r>
            <a:r>
              <a:rPr b="0" lang="en-US" sz="10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Intl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6" name="Google Shape;946;p57"/>
          <p:cNvSpPr/>
          <p:nvPr/>
        </p:nvSpPr>
        <p:spPr>
          <a:xfrm>
            <a:off x="4667250" y="1714500"/>
            <a:ext cx="4095900" cy="3048000"/>
          </a:xfrm>
          <a:prstGeom prst="roundRect">
            <a:avLst>
              <a:gd fmla="val 375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7"/>
          <p:cNvSpPr txBox="1"/>
          <p:nvPr/>
        </p:nvSpPr>
        <p:spPr>
          <a:xfrm>
            <a:off x="4857750" y="1905000"/>
            <a:ext cx="37149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# 2. Batch of Incoming Orders</a:t>
            </a:r>
            <a:endParaRPr b="1" sz="1000">
              <a:solidFill>
                <a:srgbClr val="00BC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orders = [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{'id': 101, 'w': 4.5, 'dest': 'A'},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{'id': 102, 'w': 12.0, 'dest': 'C'},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{'id': 103, 'w': 2.3, 'dest': 'B'},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{'id': 104, 'w': 1.1, 'dest': 'E'}, </a:t>
            </a:r>
            <a:r>
              <a:rPr b="0" lang="en-US" sz="1000">
                <a:solidFill>
                  <a:srgbClr val="FF5555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n-US" sz="1000">
                <a:solidFill>
                  <a:srgbClr val="FF5555"/>
                </a:solidFill>
                <a:latin typeface="Courier New"/>
                <a:ea typeface="Courier New"/>
                <a:cs typeface="Courier New"/>
                <a:sym typeface="Courier New"/>
              </a:rPr>
              <a:t>DNE</a:t>
            </a:r>
            <a:r>
              <a:rPr b="0" lang="en-US" sz="1000">
                <a:solidFill>
                  <a:srgbClr val="FF5555"/>
                </a:solidFill>
                <a:latin typeface="Courier New"/>
                <a:ea typeface="Courier New"/>
                <a:cs typeface="Courier New"/>
                <a:sym typeface="Courier New"/>
              </a:rPr>
              <a:t>!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{'id': 105, 'w': 8.0, 'dest': 'A'}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0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3" name="Google Shape;953;p58"/>
          <p:cNvSpPr/>
          <p:nvPr/>
        </p:nvSpPr>
        <p:spPr>
          <a:xfrm>
            <a:off x="381000" y="285750"/>
            <a:ext cx="8382000" cy="666900"/>
          </a:xfrm>
          <a:prstGeom prst="roundRect">
            <a:avLst>
              <a:gd fmla="val 171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58"/>
          <p:cNvSpPr txBox="1"/>
          <p:nvPr/>
        </p:nvSpPr>
        <p:spPr>
          <a:xfrm>
            <a:off x="666750" y="285750"/>
            <a:ext cx="78105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Phase 2: Processing the Batch</a:t>
            </a:r>
            <a:endParaRPr b="1" sz="24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5" name="Google Shape;955;p58"/>
          <p:cNvSpPr/>
          <p:nvPr/>
        </p:nvSpPr>
        <p:spPr>
          <a:xfrm>
            <a:off x="381000" y="1143000"/>
            <a:ext cx="8382000" cy="3619500"/>
          </a:xfrm>
          <a:prstGeom prst="roundRect">
            <a:avLst>
              <a:gd fmla="val 3157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58"/>
          <p:cNvSpPr txBox="1"/>
          <p:nvPr/>
        </p:nvSpPr>
        <p:spPr>
          <a:xfrm>
            <a:off x="666750" y="1333500"/>
            <a:ext cx="7810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total_revenue = 0.0</a:t>
            </a:r>
            <a:endParaRPr sz="11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# Iterating and Calculating</a:t>
            </a:r>
            <a:endParaRPr b="1" sz="1100">
              <a:solidFill>
                <a:srgbClr val="10B98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order in orders: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order_id, weight, zone = order['id'], order['w'], order['dest']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Use .get() to avoid KeyError if a zone is invalid</a:t>
            </a:r>
            <a:endParaRPr b="0" sz="11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rate_info = shipping_rates.get(zone)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if rate_info is None: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print(f"Order #{order_id}: Error - Unknown Destination '{zone}'. Skipping.")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381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continue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# Unpack values and calculate</a:t>
            </a:r>
            <a:endParaRPr b="0" sz="1100">
              <a:solidFill>
                <a:srgbClr val="6272A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base_cost, cost_per_pound = rate_info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shipping_cost = base_cost + (weight * cost_per_pound)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total_revenue += shipping_cost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print(f"📦 Order #{order_id} to {zone}: Total Cost = ${shipping_cost:.2f}")</a:t>
            </a:r>
            <a:endParaRPr b="0" sz="110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 Shipping Revenue Generated: ${total_revenue:.2f}")</a:t>
            </a:r>
            <a:endParaRPr b="1" sz="1100">
              <a:solidFill>
                <a:srgbClr val="FFC10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